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8" r:id="rId2"/>
  </p:sldMasterIdLst>
  <p:notesMasterIdLst>
    <p:notesMasterId r:id="rId12"/>
  </p:notesMasterIdLst>
  <p:sldIdLst>
    <p:sldId id="270" r:id="rId3"/>
    <p:sldId id="319" r:id="rId4"/>
    <p:sldId id="326" r:id="rId5"/>
    <p:sldId id="320" r:id="rId6"/>
    <p:sldId id="321" r:id="rId7"/>
    <p:sldId id="322" r:id="rId8"/>
    <p:sldId id="323" r:id="rId9"/>
    <p:sldId id="324" r:id="rId10"/>
    <p:sldId id="327" r:id="rId11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C0"/>
    <a:srgbClr val="1D4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610" autoAdjust="0"/>
  </p:normalViewPr>
  <p:slideViewPr>
    <p:cSldViewPr snapToGrid="0" snapToObjects="1">
      <p:cViewPr varScale="1">
        <p:scale>
          <a:sx n="182" d="100"/>
          <a:sy n="182" d="100"/>
        </p:scale>
        <p:origin x="168" y="2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6581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67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CD3FAE-1085-6AE7-12B6-5DA3F770E8BC}"/>
              </a:ext>
            </a:extLst>
          </p:cNvPr>
          <p:cNvSpPr/>
          <p:nvPr userDrawn="1"/>
        </p:nvSpPr>
        <p:spPr>
          <a:xfrm>
            <a:off x="324015" y="238539"/>
            <a:ext cx="45720" cy="344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37EA3E7-73A1-040A-7173-099BD487BEF5}"/>
              </a:ext>
            </a:extLst>
          </p:cNvPr>
          <p:cNvGrpSpPr/>
          <p:nvPr userDrawn="1"/>
        </p:nvGrpSpPr>
        <p:grpSpPr>
          <a:xfrm>
            <a:off x="7817667" y="4744276"/>
            <a:ext cx="1326333" cy="377135"/>
            <a:chOff x="1675492" y="3014042"/>
            <a:chExt cx="2491431" cy="79056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D1CBB9B-2327-3611-9177-58C07C4D5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3097" y="3014042"/>
              <a:ext cx="2432504" cy="571658"/>
            </a:xfrm>
            <a:prstGeom prst="rect">
              <a:avLst/>
            </a:prstGeom>
          </p:spPr>
        </p:pic>
        <p:sp>
          <p:nvSpPr>
            <p:cNvPr id="4" name="부제목 2">
              <a:extLst>
                <a:ext uri="{FF2B5EF4-FFF2-40B4-BE49-F238E27FC236}">
                  <a16:creationId xmlns:a16="http://schemas.microsoft.com/office/drawing/2014/main" id="{7F4ECAAB-BC16-E900-15E2-C4E572BA4F2C}"/>
                </a:ext>
              </a:extLst>
            </p:cNvPr>
            <p:cNvSpPr txBox="1">
              <a:spLocks/>
            </p:cNvSpPr>
            <p:nvPr/>
          </p:nvSpPr>
          <p:spPr>
            <a:xfrm>
              <a:off x="1675492" y="3584349"/>
              <a:ext cx="2491431" cy="22026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36000" tIns="45720" rIns="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ko-KR" sz="600" b="1" spc="300" dirty="0">
                  <a:solidFill>
                    <a:srgbClr val="114A9D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rPr>
                <a:t>We predict future</a:t>
              </a:r>
              <a:endParaRPr kumimoji="1" lang="ko-KR" altLang="en-US" sz="600" b="1" spc="300" dirty="0">
                <a:solidFill>
                  <a:srgbClr val="114A9D"/>
                </a:solidFill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9" name="제목 8">
            <a:extLst>
              <a:ext uri="{FF2B5EF4-FFF2-40B4-BE49-F238E27FC236}">
                <a16:creationId xmlns:a16="http://schemas.microsoft.com/office/drawing/2014/main" id="{9123E0D7-A5EC-EA7E-8B36-50FD80FC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89" y="156284"/>
            <a:ext cx="8073188" cy="426813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6D5E838-B9AA-5FBA-9D0A-821676A4A65D}"/>
              </a:ext>
            </a:extLst>
          </p:cNvPr>
          <p:cNvGrpSpPr/>
          <p:nvPr userDrawn="1"/>
        </p:nvGrpSpPr>
        <p:grpSpPr>
          <a:xfrm>
            <a:off x="7817667" y="4744276"/>
            <a:ext cx="1326333" cy="377135"/>
            <a:chOff x="1675492" y="3014042"/>
            <a:chExt cx="2491431" cy="79056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CCB76E1-933D-D72B-40E8-182AA9EA3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3097" y="3014042"/>
              <a:ext cx="2432504" cy="571658"/>
            </a:xfrm>
            <a:prstGeom prst="rect">
              <a:avLst/>
            </a:prstGeom>
          </p:spPr>
        </p:pic>
        <p:sp>
          <p:nvSpPr>
            <p:cNvPr id="4" name="부제목 2">
              <a:extLst>
                <a:ext uri="{FF2B5EF4-FFF2-40B4-BE49-F238E27FC236}">
                  <a16:creationId xmlns:a16="http://schemas.microsoft.com/office/drawing/2014/main" id="{44374A5D-823F-EEA7-9B5C-1F32F796EC45}"/>
                </a:ext>
              </a:extLst>
            </p:cNvPr>
            <p:cNvSpPr txBox="1">
              <a:spLocks/>
            </p:cNvSpPr>
            <p:nvPr/>
          </p:nvSpPr>
          <p:spPr>
            <a:xfrm>
              <a:off x="1675492" y="3584349"/>
              <a:ext cx="2491431" cy="22026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36000" tIns="45720" rIns="0" bIns="45720" rtlCol="0" anchor="ctr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ko-KR" sz="600" b="1" spc="300" dirty="0">
                  <a:solidFill>
                    <a:srgbClr val="114A9D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rPr>
                <a:t>We predict future</a:t>
              </a:r>
              <a:endParaRPr kumimoji="1" lang="ko-KR" altLang="en-US" sz="600" b="1" spc="300" dirty="0">
                <a:solidFill>
                  <a:srgbClr val="114A9D"/>
                </a:solidFill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56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C190A-4E59-3439-0E43-8E5662BA7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981343-F4B7-19F9-D44C-1C1B2BCA0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B6DCA-683C-C2CF-3C80-3B6FF981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19DC5-F01A-F3A2-2CD0-8EA66690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6BE86-1251-7793-73E6-8528487F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43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183C7-72F1-046A-5C64-6AB1A251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AF997-AAC5-2ABE-2C68-42D9CB620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D8658-B4DC-B8D6-DC7D-47A8C289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C1C60-0F8D-9FC4-BFAF-B25B8E04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3D334-56EB-1271-0CB1-4F0696E8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96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2C548-E86D-BB67-7C0E-158FEBEC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F351D6-5E0A-3ED9-2037-1DD0E76A3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F78CC-0577-6BDF-1B2F-007761E3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665D4-48B1-C319-16AC-2E49B13A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99EEF-7639-9A2A-5771-B99266D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0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E26C-090F-A7E5-1AF5-C1CDB43C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40C0B7-F3EE-5147-3C3F-9BA92AFA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FFCF0-C8D0-A514-3B75-06936807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60DBB-D07E-383D-9CB0-5983DB09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C458D5-7983-676A-8CD5-AFCD5929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6904A2-F52B-D945-2654-F0FD0618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0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523D8-71E6-2A2C-1C73-C529A971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9E58CE-3DDD-165D-9C78-E33F9730C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C4C94A-FDD0-5319-C7FF-0D25F4A81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E8D819-0506-9AD7-0976-24FAFF8EF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5CAE0E-76C0-42B5-2392-128EF8549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C745E9-FD40-B369-CB35-7882D18F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6F6A28-7307-A5CF-7CBB-7FA5AAA4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DD36E-94FA-6775-917A-7D35BB8E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2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864E8-CD79-D6C5-FB7F-82368D38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DB1EA8-7A32-D563-35C3-DE9D4BEE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DF728D-9DB0-1CA3-E32E-E126CFFB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514FB6-4F4B-C56C-DD69-8300E72B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1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D9205B-037B-1F30-38DF-30A3C27B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C4E723-257C-8C96-F5BF-4FA6A2E0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F25EDE-23D7-C4EA-84BF-0368FBE1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93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C3B63-F5F5-278D-C9E8-75031F93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87077-D775-BD7C-99CE-32B85A975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7053F7-3A17-8838-340E-D9A9E3CBC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5A8E4-67AD-3971-8058-C07FA232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5DBC24-19EE-65B2-C10B-4B2E3BDD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C325B-C6F5-7F35-C6AA-94E267A0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4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9796B-9BEC-11C0-AD76-7E7BB068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1DDF48-0754-A5F0-FDC6-7D0EDD89B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57D916-58C2-C671-F436-DCEEACE95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2338DF-B525-756D-A41D-FE58C860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829FF4-03CD-1B3E-4054-DF4374EA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CB84A-45D8-9186-5227-B29916E0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941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8D40B-4FAB-2F93-4D6E-4847D33D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C0364A-46A8-7D9A-342A-6114C81C9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0969AB-7819-CE36-CD10-4166BF40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4CF07-966D-68CB-47D8-A97E40DA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38455D-90D8-9A1B-3777-3A396A91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7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4C6EF6-8665-0D85-21C8-4377270E5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948D3-0897-6181-D09F-7DAA5D837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EB779-A53A-65F5-E5A5-88E4274A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778FBE-64AC-00C1-B17C-4DF00CC0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2D027-FF61-B98C-B2D9-6B1CAD78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48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1C9DCBB-03F2-2634-A17D-47E76867881F}"/>
              </a:ext>
            </a:extLst>
          </p:cNvPr>
          <p:cNvSpPr/>
          <p:nvPr userDrawn="1"/>
        </p:nvSpPr>
        <p:spPr>
          <a:xfrm>
            <a:off x="0" y="-99392"/>
            <a:ext cx="9144000" cy="697892"/>
          </a:xfrm>
          <a:prstGeom prst="rect">
            <a:avLst/>
          </a:prstGeom>
          <a:solidFill>
            <a:srgbClr val="1D499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44FFE97-246C-CC7E-76EA-202B71A7071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598500"/>
            <a:ext cx="9144000" cy="3075"/>
          </a:xfrm>
          <a:prstGeom prst="line">
            <a:avLst/>
          </a:prstGeom>
          <a:noFill/>
          <a:ln w="9525">
            <a:solidFill>
              <a:srgbClr val="C5C5C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buClr>
                <a:srgbClr val="7D0900"/>
              </a:buClr>
              <a:defRPr/>
            </a:pPr>
            <a:endParaRPr lang="ko-KR" altLang="en-US" baseline="0" dirty="0">
              <a:solidFill>
                <a:srgbClr val="646464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C2BA05-0E5F-6A36-8DFC-0BECF783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783E3C-BC3A-3C19-9F10-508140F6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F4B05-B127-9F14-F0D0-380FEC924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8968C-58A7-44A2-A997-CAA0430D32D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92A96-4008-4B52-8A6E-137CE0CE8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8E9C8F-E7F5-6E3C-8BBD-22CAA4BC9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CDAA-AF01-4DE5-9942-C682EF476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19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1500390-AE94-1E14-299E-CA3B1C01D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216"/>
            <a:ext cx="9144000" cy="4181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35ED81-EA76-904C-D2D5-C9EF2266F916}"/>
              </a:ext>
            </a:extLst>
          </p:cNvPr>
          <p:cNvSpPr txBox="1"/>
          <p:nvPr/>
        </p:nvSpPr>
        <p:spPr>
          <a:xfrm>
            <a:off x="3000652" y="4128117"/>
            <a:ext cx="3071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딥마인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9608F54B-EAA4-8781-7AD2-AF0D7EF61917}"/>
              </a:ext>
            </a:extLst>
          </p:cNvPr>
          <p:cNvSpPr/>
          <p:nvPr/>
        </p:nvSpPr>
        <p:spPr>
          <a:xfrm>
            <a:off x="2067699" y="3652185"/>
            <a:ext cx="5401687" cy="3389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069" b="1" dirty="0">
                <a:solidFill>
                  <a:srgbClr val="262626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인공지능을 </a:t>
            </a:r>
            <a:r>
              <a:rPr lang="en-US" sz="2069" b="1" dirty="0">
                <a:solidFill>
                  <a:srgbClr val="262626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활용한 데이터 기반 미래 예측 AI </a:t>
            </a:r>
            <a:r>
              <a:rPr lang="ko-KR" altLang="en-US" sz="2069" b="1" dirty="0">
                <a:solidFill>
                  <a:srgbClr val="262626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솔루션</a:t>
            </a:r>
            <a:endParaRPr lang="en-US" sz="2069" dirty="0">
              <a:latin typeface="한컴 고딕" panose="02000500000000000000" pitchFamily="2" charset="-127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319B6EA-4710-9AAC-2BE4-EE4C018F0F08}"/>
              </a:ext>
            </a:extLst>
          </p:cNvPr>
          <p:cNvSpPr/>
          <p:nvPr/>
        </p:nvSpPr>
        <p:spPr>
          <a:xfrm>
            <a:off x="682386" y="2838833"/>
            <a:ext cx="7783774" cy="7841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4000" b="1" dirty="0">
                <a:solidFill>
                  <a:srgbClr val="121212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인공지능 미래 수요 </a:t>
            </a:r>
            <a:r>
              <a:rPr lang="en-US" sz="4000" b="1" dirty="0">
                <a:solidFill>
                  <a:srgbClr val="121212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예측 </a:t>
            </a:r>
            <a:r>
              <a:rPr lang="ko-KR" altLang="en-US" sz="4000" b="1" dirty="0">
                <a:solidFill>
                  <a:srgbClr val="121212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솔루션 소개</a:t>
            </a:r>
            <a:endParaRPr lang="en-US" sz="4000" dirty="0">
              <a:latin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69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4DCDD-59C3-F6DA-88AB-1E919E75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 미래 수요 예측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F44DA-D625-98F1-3E20-78ECF1900A35}"/>
              </a:ext>
            </a:extLst>
          </p:cNvPr>
          <p:cNvSpPr txBox="1"/>
          <p:nvPr/>
        </p:nvSpPr>
        <p:spPr>
          <a:xfrm>
            <a:off x="464025" y="903450"/>
            <a:ext cx="72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솔루션 명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딥마인 인공지능 미래 수요 예측 솔루션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5D777-2D80-CDE2-7ED7-C1E9704C3DA2}"/>
              </a:ext>
            </a:extLst>
          </p:cNvPr>
          <p:cNvSpPr txBox="1"/>
          <p:nvPr/>
        </p:nvSpPr>
        <p:spPr>
          <a:xfrm>
            <a:off x="464025" y="1356109"/>
            <a:ext cx="8143164" cy="218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솔루션 활용분야</a:t>
            </a:r>
            <a:endParaRPr lang="en-US" altLang="ko-KR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1)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대기업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중소기업 상품 수요 예측과 그 부품 자재의 수요 예측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2)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제조업체의 수율 예측 및 분석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3)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온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오프라인 유통업체의 수요 예측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4)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수입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수출 회사를 위한 원달러등 환율 예측 및 원자재 가격 예측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5)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금융회사의 상품 수요 및 가격 예측 등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20613-7CEE-C182-A5D2-A20F0C2307F9}"/>
              </a:ext>
            </a:extLst>
          </p:cNvPr>
          <p:cNvSpPr txBox="1"/>
          <p:nvPr/>
        </p:nvSpPr>
        <p:spPr>
          <a:xfrm>
            <a:off x="1164609" y="4261640"/>
            <a:ext cx="72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00206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★ 미래 특정시점의 확률변수를 예측하므로 다양한 분야에서 활용가능 ★</a:t>
            </a:r>
            <a:endParaRPr lang="ko-KR" altLang="en-US" dirty="0"/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C3C30D6B-49DA-53F8-3E4A-E7E07E3452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1124" y="3650009"/>
            <a:ext cx="7662148" cy="415871"/>
          </a:xfrm>
          <a:prstGeom prst="downArrow">
            <a:avLst>
              <a:gd name="adj1" fmla="val 50000"/>
              <a:gd name="adj2" fmla="val 86410"/>
            </a:avLst>
          </a:prstGeom>
          <a:gradFill rotWithShape="1">
            <a:gsLst>
              <a:gs pos="0">
                <a:srgbClr val="FFFFFF"/>
              </a:gs>
              <a:gs pos="100000">
                <a:srgbClr val="808080"/>
              </a:gs>
            </a:gsLst>
            <a:lin ang="5400000" scaled="1"/>
          </a:gradFill>
          <a:ln w="38100" algn="ctr">
            <a:noFill/>
            <a:miter lim="800000"/>
            <a:headEnd/>
            <a:tailEnd/>
          </a:ln>
          <a:effectLst/>
        </p:spPr>
        <p:txBody>
          <a:bodyPr wrap="none" lIns="18000" tIns="46800" rIns="18000" bIns="468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noProof="0" dirty="0">
              <a:ln>
                <a:noFill/>
              </a:ln>
              <a:solidFill>
                <a:srgbClr val="003296"/>
              </a:solidFill>
              <a:effectLst/>
              <a:uLnTx/>
              <a:uFillTx/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0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CDD0A-CC50-0605-CA08-7AB704ED2BD5}"/>
              </a:ext>
            </a:extLst>
          </p:cNvPr>
          <p:cNvSpPr txBox="1"/>
          <p:nvPr/>
        </p:nvSpPr>
        <p:spPr>
          <a:xfrm>
            <a:off x="413983" y="1042625"/>
            <a:ext cx="821524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솔루션 </a:t>
            </a:r>
            <a:r>
              <a:rPr lang="ko-KR" altLang="en-US" b="1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납품실적</a:t>
            </a:r>
            <a:endParaRPr lang="en-US" altLang="ko-KR" b="1" dirty="0" smtClean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-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삼성전자 무선사업부 스마트폰 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Installed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Base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예측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      -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삼성전자 무선사업부 스마트폰 서비스 자재 수요 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예측 </a:t>
            </a:r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(19.06 ~ 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현재</a:t>
            </a:r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-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삼성전자 무선사업부 스마트폰 서비스 자재 초기 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개월 </a:t>
            </a:r>
            <a:r>
              <a:rPr lang="ko-KR" altLang="en-US" sz="1600" dirty="0" err="1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사용율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 예측 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(19.06 ~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현재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B278581-1D5B-EB0E-EBF3-FBF03AF6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 미래 수요 예측 솔루션 기대효과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C086C-049A-209F-1D75-AA98096CEBF4}"/>
              </a:ext>
            </a:extLst>
          </p:cNvPr>
          <p:cNvSpPr txBox="1"/>
          <p:nvPr/>
        </p:nvSpPr>
        <p:spPr>
          <a:xfrm>
            <a:off x="378787" y="2396758"/>
            <a:ext cx="72378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솔루션 기대효과</a:t>
            </a:r>
            <a:endParaRPr lang="en-US" altLang="ko-KR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- </a:t>
            </a:r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년 서비스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자재 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수요 예측 모델 도입 초기 </a:t>
            </a:r>
            <a:r>
              <a:rPr lang="ko-KR" altLang="en-US" sz="1600" b="1" dirty="0" smtClean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 </a:t>
            </a:r>
            <a:r>
              <a:rPr lang="en-US" altLang="ko-KR" sz="1600" b="1" dirty="0" smtClean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38</a:t>
            </a:r>
            <a:r>
              <a:rPr lang="ko-KR" altLang="en-US" sz="1600" b="1" dirty="0" smtClean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억원 절감</a:t>
            </a:r>
            <a:endParaRPr lang="en-US" altLang="ko-KR" sz="1600" b="1" dirty="0" smtClean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     - </a:t>
            </a:r>
            <a:r>
              <a:rPr lang="ko-KR" altLang="en-US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지속적인 개선 및 고도화를 통해 매년 수 억원의 비용 절감 효과 발생</a:t>
            </a:r>
            <a:endParaRPr lang="en-US" altLang="ko-KR" sz="1600" b="1" dirty="0" smtClean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8C3B8-80BC-02C4-A496-69FD094042D6}"/>
              </a:ext>
            </a:extLst>
          </p:cNvPr>
          <p:cNvSpPr txBox="1"/>
          <p:nvPr/>
        </p:nvSpPr>
        <p:spPr>
          <a:xfrm>
            <a:off x="378788" y="3473892"/>
            <a:ext cx="723786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솔루션 향후계획</a:t>
            </a:r>
            <a:endParaRPr lang="en-US" altLang="ko-KR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600" dirty="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      -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미래 수요예측이 필요한 수요기업에 </a:t>
            </a:r>
            <a:r>
              <a:rPr lang="en-US" altLang="ko-KR" sz="16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AI Agent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6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서비스 </a:t>
            </a:r>
            <a:r>
              <a:rPr lang="ko-KR" altLang="en-US" sz="1600" b="1" dirty="0" smtClean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제공</a:t>
            </a:r>
            <a:endParaRPr lang="en-US" altLang="ko-KR" sz="1600" b="1" dirty="0" smtClean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521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509F9-3C49-80CF-4677-349208620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보유 및 수집 계획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285D15-3015-0B68-B926-5166F057E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60014"/>
              </p:ext>
            </p:extLst>
          </p:nvPr>
        </p:nvGraphicFramePr>
        <p:xfrm>
          <a:off x="464025" y="1199994"/>
          <a:ext cx="7761026" cy="3157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3720">
                  <a:extLst>
                    <a:ext uri="{9D8B030D-6E8A-4147-A177-3AD203B41FA5}">
                      <a16:colId xmlns:a16="http://schemas.microsoft.com/office/drawing/2014/main" val="2233121904"/>
                    </a:ext>
                  </a:extLst>
                </a:gridCol>
                <a:gridCol w="4897306">
                  <a:extLst>
                    <a:ext uri="{9D8B030D-6E8A-4147-A177-3AD203B41FA5}">
                      <a16:colId xmlns:a16="http://schemas.microsoft.com/office/drawing/2014/main" val="3230917519"/>
                    </a:ext>
                  </a:extLst>
                </a:gridCol>
              </a:tblGrid>
              <a:tr h="1562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업무 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데이터 상세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381707"/>
                  </a:ext>
                </a:extLst>
              </a:tr>
              <a:tr h="93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ㆍ상품 수요 예측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ㆍ부품 자재 예측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ㆍ제조회사 수율 분석</a:t>
                      </a:r>
                      <a:endParaRPr lang="en-US" altLang="ko-KR" sz="1600" dirty="0"/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기업자체 보유 내부 데이터와  외부 크롤링 데이터 활용</a:t>
                      </a:r>
                      <a:endParaRPr lang="en-US" altLang="ko-KR" sz="16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367256"/>
                  </a:ext>
                </a:extLst>
              </a:tr>
              <a:tr h="93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ㆍ원달러등 환율 예측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ㆍ원자재 수요 예측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저작권 문제가 없는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데이터는 인터넷 크롤링 등을 통해 수집	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20106"/>
                  </a:ext>
                </a:extLst>
              </a:tr>
              <a:tr h="93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ㆍ금융상품의 가격 예측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ㆍ금융상품의 수요 예측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기업자체 보유 내부 데이터와  외부 크롤링 데이터 활용</a:t>
                      </a:r>
                      <a:endParaRPr lang="en-US" altLang="ko-KR" sz="16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010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40E67E-DF9D-15B8-FCB0-AEB6B9018E87}"/>
              </a:ext>
            </a:extLst>
          </p:cNvPr>
          <p:cNvSpPr txBox="1"/>
          <p:nvPr/>
        </p:nvSpPr>
        <p:spPr>
          <a:xfrm>
            <a:off x="464025" y="830662"/>
            <a:ext cx="72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필요 데이터 수집 계획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6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7D5D9-3F9E-3FAA-3257-180F8349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솔루션 프레임워크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FFEF04-FE3B-08D9-C1CE-B57920AD9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185559"/>
              </p:ext>
            </p:extLst>
          </p:nvPr>
        </p:nvGraphicFramePr>
        <p:xfrm>
          <a:off x="464025" y="1199392"/>
          <a:ext cx="7785895" cy="314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308">
                  <a:extLst>
                    <a:ext uri="{9D8B030D-6E8A-4147-A177-3AD203B41FA5}">
                      <a16:colId xmlns:a16="http://schemas.microsoft.com/office/drawing/2014/main" val="2233121904"/>
                    </a:ext>
                  </a:extLst>
                </a:gridCol>
                <a:gridCol w="3886587">
                  <a:extLst>
                    <a:ext uri="{9D8B030D-6E8A-4147-A177-3AD203B41FA5}">
                      <a16:colId xmlns:a16="http://schemas.microsoft.com/office/drawing/2014/main" val="3230917519"/>
                    </a:ext>
                  </a:extLst>
                </a:gridCol>
              </a:tblGrid>
              <a:tr h="4595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381707"/>
                  </a:ext>
                </a:extLst>
              </a:tr>
              <a:tr h="4262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Machine/Deep Learning 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프레임워크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Apache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MXNet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PyTorch</a:t>
                      </a:r>
                      <a:endParaRPr lang="ko-KR" altLang="en-US" sz="16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367256"/>
                  </a:ext>
                </a:extLst>
              </a:tr>
              <a:tr h="727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ㆍ예측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알고리즘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DeepAR, </a:t>
                      </a:r>
                      <a:r>
                        <a:rPr lang="en-US" altLang="ko-KR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TFT,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Tree Based Models,  Foundation Models</a:t>
                      </a:r>
                      <a:endParaRPr lang="ko-KR" altLang="en-US" sz="16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20106"/>
                  </a:ext>
                </a:extLst>
              </a:tr>
              <a:tr h="765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ㆍ최적화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알고리즘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Bayesian Optimization,</a:t>
                      </a:r>
                      <a:r>
                        <a:rPr lang="en-US" altLang="ko-KR" sz="1800" b="1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AutoNHITS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 smtClean="0">
                          <a:latin typeface="+mn-ea"/>
                          <a:ea typeface="+mn-ea"/>
                        </a:rPr>
                        <a:t>AutoMLP</a:t>
                      </a:r>
                      <a:r>
                        <a:rPr lang="en-US" altLang="ko-KR" sz="16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600" b="0" dirty="0" err="1" smtClean="0">
                          <a:latin typeface="+mn-ea"/>
                          <a:ea typeface="+mn-ea"/>
                        </a:rPr>
                        <a:t>Optuna</a:t>
                      </a:r>
                      <a:r>
                        <a:rPr lang="en-US" altLang="ko-KR" sz="1600" b="0" dirty="0" smtClean="0">
                          <a:latin typeface="+mn-ea"/>
                          <a:ea typeface="+mn-ea"/>
                        </a:rPr>
                        <a:t>, Hyperband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01078"/>
                  </a:ext>
                </a:extLst>
              </a:tr>
              <a:tr h="384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ㆍ데이터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증강 알고리즘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Tsaug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SMOTE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127480"/>
                  </a:ext>
                </a:extLst>
              </a:tr>
              <a:tr h="384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 smtClean="0">
                          <a:latin typeface="+mn-ea"/>
                          <a:ea typeface="+mn-ea"/>
                        </a:rPr>
                        <a:t>ㆍ기타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 알고리즘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>
                          <a:latin typeface="+mn-ea"/>
                          <a:ea typeface="+mn-ea"/>
                        </a:rPr>
                        <a:t>Tsfresh</a:t>
                      </a:r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600" dirty="0" err="1" smtClean="0">
                          <a:latin typeface="+mn-ea"/>
                          <a:ea typeface="+mn-ea"/>
                        </a:rPr>
                        <a:t>tslearn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32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D7693B-AADF-AC94-3257-AAA1EED2B4B3}"/>
              </a:ext>
            </a:extLst>
          </p:cNvPr>
          <p:cNvSpPr txBox="1"/>
          <p:nvPr/>
        </p:nvSpPr>
        <p:spPr>
          <a:xfrm>
            <a:off x="464025" y="830662"/>
            <a:ext cx="72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□ </a:t>
            </a:r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프레임워크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31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74B9-E7B3-6B51-FE26-F3C6E9F2C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E0B4F-26FA-A384-F278-6F3944FC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아키텍처 </a:t>
            </a:r>
            <a:r>
              <a:rPr lang="en-US" altLang="ko-KR" dirty="0"/>
              <a:t>Ⅰ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01F8A-3759-AEAF-3CDE-D78B40681CBF}"/>
              </a:ext>
            </a:extLst>
          </p:cNvPr>
          <p:cNvSpPr txBox="1"/>
          <p:nvPr/>
        </p:nvSpPr>
        <p:spPr>
          <a:xfrm>
            <a:off x="464025" y="830662"/>
            <a:ext cx="72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n-ea"/>
              </a:rPr>
              <a:t>□ 현대적 신경망 아키텍처 사용</a:t>
            </a:r>
            <a:endParaRPr lang="ko-KR" altLang="en-US" dirty="0">
              <a:latin typeface="+mn-ea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2620BF3-745A-A018-F5A2-4BA60689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381" y="4633430"/>
            <a:ext cx="794119" cy="43195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C963A723-FA20-B45D-51C1-B0BBDB6D7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867" y="4643398"/>
            <a:ext cx="631308" cy="26581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C9153214-4A9F-5F4F-DF97-64F79806D77C}"/>
              </a:ext>
            </a:extLst>
          </p:cNvPr>
          <p:cNvSpPr/>
          <p:nvPr/>
        </p:nvSpPr>
        <p:spPr>
          <a:xfrm>
            <a:off x="4678326" y="2900695"/>
            <a:ext cx="4073599" cy="1418782"/>
          </a:xfrm>
          <a:prstGeom prst="rect">
            <a:avLst/>
          </a:prstGeom>
          <a:solidFill>
            <a:srgbClr val="F7F6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EAF74182-2EEB-6369-475F-916374F81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73" y="3266189"/>
            <a:ext cx="870541" cy="68447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98ADB91-47D3-25AA-85FC-1BE0553BAC39}"/>
              </a:ext>
            </a:extLst>
          </p:cNvPr>
          <p:cNvSpPr/>
          <p:nvPr/>
        </p:nvSpPr>
        <p:spPr>
          <a:xfrm>
            <a:off x="5924327" y="3738009"/>
            <a:ext cx="2423553" cy="529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합성곱</a:t>
            </a:r>
            <a:r>
              <a:rPr lang="en-US" sz="14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(</a:t>
            </a:r>
            <a:r>
              <a:rPr lang="en-US" altLang="ko-KR" sz="1400" b="1" dirty="0">
                <a:solidFill>
                  <a:srgbClr val="A36861"/>
                </a:solidFill>
                <a:latin typeface="+mn-ea"/>
                <a:cs typeface="Inter" pitchFamily="34" charset="-120"/>
              </a:rPr>
              <a:t>Convolution</a:t>
            </a:r>
            <a:r>
              <a:rPr lang="en-US" altLang="ko-KR" sz="1400" b="1" dirty="0">
                <a:solidFill>
                  <a:srgbClr val="43423F"/>
                </a:solidFill>
                <a:latin typeface="+mn-ea"/>
                <a:cs typeface="Inter" pitchFamily="34" charset="-120"/>
              </a:rPr>
              <a:t>)을 </a:t>
            </a:r>
            <a:r>
              <a:rPr lang="en-US" altLang="ko-KR" sz="1400" b="1" dirty="0" err="1">
                <a:solidFill>
                  <a:srgbClr val="43423F"/>
                </a:solidFill>
                <a:latin typeface="+mn-ea"/>
                <a:cs typeface="Inter" pitchFamily="34" charset="-120"/>
              </a:rPr>
              <a:t>이용한</a:t>
            </a:r>
            <a:endParaRPr lang="en-US" altLang="ko-KR" sz="1400" b="1" dirty="0">
              <a:solidFill>
                <a:srgbClr val="43423F"/>
              </a:solidFill>
              <a:latin typeface="+mn-ea"/>
              <a:cs typeface="Inter" pitchFamily="34" charset="-120"/>
            </a:endParaRPr>
          </a:p>
          <a:p>
            <a:r>
              <a:rPr lang="en-US" altLang="ko-KR" sz="14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패턴</a:t>
            </a:r>
            <a:r>
              <a:rPr lang="en-US" altLang="ko-KR" sz="14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sz="14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인식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EB39266-F254-DDC6-363D-46B844B19FDE}"/>
              </a:ext>
            </a:extLst>
          </p:cNvPr>
          <p:cNvSpPr/>
          <p:nvPr/>
        </p:nvSpPr>
        <p:spPr>
          <a:xfrm>
            <a:off x="5930974" y="3438968"/>
            <a:ext cx="531628" cy="2159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A3B38"/>
                </a:solidFill>
                <a:latin typeface="+mn-ea"/>
                <a:cs typeface="Inter" pitchFamily="34" charset="-120"/>
              </a:rPr>
              <a:t>BiTCN</a:t>
            </a:r>
            <a:endParaRPr lang="en-US" sz="1600" dirty="0">
              <a:latin typeface="+mn-ea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8460BDC-B28D-2ADF-CD78-8D53A3F5AFB2}"/>
              </a:ext>
            </a:extLst>
          </p:cNvPr>
          <p:cNvSpPr/>
          <p:nvPr/>
        </p:nvSpPr>
        <p:spPr>
          <a:xfrm>
            <a:off x="5930974" y="3083442"/>
            <a:ext cx="1528430" cy="325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42422"/>
                </a:solidFill>
                <a:latin typeface="+mn-ea"/>
                <a:cs typeface="Inter" pitchFamily="34" charset="-120"/>
              </a:rPr>
              <a:t>CNN Family</a:t>
            </a:r>
            <a:endParaRPr lang="en-US" dirty="0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5AF9568-A339-559F-A988-B5E4643BB090}"/>
              </a:ext>
            </a:extLst>
          </p:cNvPr>
          <p:cNvSpPr/>
          <p:nvPr/>
        </p:nvSpPr>
        <p:spPr>
          <a:xfrm>
            <a:off x="5273084" y="3309384"/>
            <a:ext cx="468497" cy="2093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1" dirty="0">
                <a:solidFill>
                  <a:srgbClr val="666660"/>
                </a:solidFill>
                <a:latin typeface="+mn-ea"/>
                <a:cs typeface="Inter" pitchFamily="34" charset="-120"/>
              </a:rPr>
              <a:t>Convolutio</a:t>
            </a:r>
            <a:endParaRPr lang="en-US" sz="701" dirty="0">
              <a:latin typeface="+mn-ea"/>
            </a:endParaRPr>
          </a:p>
          <a:p>
            <a:pPr marL="0" indent="0" algn="l">
              <a:buNone/>
            </a:pPr>
            <a:r>
              <a:rPr lang="en-US" sz="701" dirty="0">
                <a:solidFill>
                  <a:srgbClr val="666660"/>
                </a:solidFill>
                <a:latin typeface="+mn-ea"/>
                <a:cs typeface="Inter" pitchFamily="34" charset="-120"/>
              </a:rPr>
              <a:t>n filters</a:t>
            </a:r>
            <a:endParaRPr lang="en-US" sz="701" dirty="0">
              <a:latin typeface="+mn-ea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0E77E123-5A0F-76D0-C69B-97F1234F0AA7}"/>
              </a:ext>
            </a:extLst>
          </p:cNvPr>
          <p:cNvSpPr/>
          <p:nvPr/>
        </p:nvSpPr>
        <p:spPr>
          <a:xfrm>
            <a:off x="392076" y="2920632"/>
            <a:ext cx="4073599" cy="1418782"/>
          </a:xfrm>
          <a:prstGeom prst="rect">
            <a:avLst/>
          </a:prstGeom>
          <a:solidFill>
            <a:srgbClr val="F6F6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EA1C29CA-7544-4D53-1290-B34EFC180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58" y="3133282"/>
            <a:ext cx="737634" cy="800765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C41EBCEC-6698-3AC2-C9CF-43D2E968D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26" y="3063506"/>
            <a:ext cx="730988" cy="651244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BA479C9C-8A10-9758-8967-8D29E0B1EC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666" y="3711427"/>
            <a:ext cx="541596" cy="435270"/>
          </a:xfrm>
          <a:prstGeom prst="rect">
            <a:avLst/>
          </a:prstGeom>
        </p:spPr>
      </p:pic>
      <p:pic>
        <p:nvPicPr>
          <p:cNvPr id="20" name="Image 10" descr="preencoded.png">
            <a:extLst>
              <a:ext uri="{FF2B5EF4-FFF2-40B4-BE49-F238E27FC236}">
                <a16:creationId xmlns:a16="http://schemas.microsoft.com/office/drawing/2014/main" id="{A6F2A07B-9B50-B8B0-2D1D-4DB62064B0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602" y="3811108"/>
            <a:ext cx="511692" cy="146198"/>
          </a:xfrm>
          <a:prstGeom prst="rect">
            <a:avLst/>
          </a:prstGeom>
        </p:spPr>
      </p:pic>
      <p:sp>
        <p:nvSpPr>
          <p:cNvPr id="21" name="Text 10">
            <a:extLst>
              <a:ext uri="{FF2B5EF4-FFF2-40B4-BE49-F238E27FC236}">
                <a16:creationId xmlns:a16="http://schemas.microsoft.com/office/drawing/2014/main" id="{8865E30A-1366-097D-A301-2061BAFBBB3D}"/>
              </a:ext>
            </a:extLst>
          </p:cNvPr>
          <p:cNvSpPr/>
          <p:nvPr/>
        </p:nvSpPr>
        <p:spPr>
          <a:xfrm>
            <a:off x="900445" y="3841012"/>
            <a:ext cx="209328" cy="863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1483E"/>
                </a:solidFill>
                <a:latin typeface="+mn-ea"/>
                <a:cs typeface="Inter" pitchFamily="34" charset="-120"/>
              </a:rPr>
              <a:t>Head</a:t>
            </a:r>
            <a:endParaRPr lang="en-US" sz="680" dirty="0">
              <a:latin typeface="+mn-ea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E2856742-D67D-08FA-4AD1-290C2C2FD4D8}"/>
              </a:ext>
            </a:extLst>
          </p:cNvPr>
          <p:cNvSpPr/>
          <p:nvPr/>
        </p:nvSpPr>
        <p:spPr>
          <a:xfrm>
            <a:off x="1488131" y="3738009"/>
            <a:ext cx="3061122" cy="455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3A3A37"/>
                </a:solidFill>
                <a:latin typeface="+mn-ea"/>
                <a:cs typeface="Inter" pitchFamily="34" charset="-120"/>
              </a:rPr>
              <a:t>장기 </a:t>
            </a:r>
            <a:r>
              <a:rPr lang="en-US" sz="1400" b="1" dirty="0" err="1">
                <a:solidFill>
                  <a:srgbClr val="3A3A37"/>
                </a:solidFill>
                <a:latin typeface="+mn-ea"/>
                <a:cs typeface="Inter" pitchFamily="34" charset="-120"/>
              </a:rPr>
              <a:t>의존성</a:t>
            </a:r>
            <a:r>
              <a:rPr lang="en-US" sz="1400" b="1" dirty="0">
                <a:solidFill>
                  <a:srgbClr val="3A3A37"/>
                </a:solidFill>
                <a:latin typeface="+mn-ea"/>
                <a:cs typeface="Inter" pitchFamily="34" charset="-120"/>
              </a:rPr>
              <a:t>(</a:t>
            </a:r>
            <a:r>
              <a:rPr lang="en-US" altLang="ko-KR" sz="1400" b="1" dirty="0">
                <a:solidFill>
                  <a:srgbClr val="718583"/>
                </a:solidFill>
                <a:latin typeface="+mn-ea"/>
                <a:cs typeface="Inter" pitchFamily="34" charset="-120"/>
              </a:rPr>
              <a:t>Long-term dependency</a:t>
            </a:r>
            <a:r>
              <a:rPr lang="en-US" sz="1400" b="1" dirty="0">
                <a:solidFill>
                  <a:srgbClr val="3A3A37"/>
                </a:solidFill>
                <a:latin typeface="+mn-ea"/>
                <a:cs typeface="Inter" pitchFamily="34" charset="-120"/>
              </a:rPr>
              <a:t>)</a:t>
            </a:r>
          </a:p>
          <a:p>
            <a:r>
              <a:rPr lang="en-US" altLang="ko-KR" sz="1400" b="1" dirty="0" err="1">
                <a:solidFill>
                  <a:srgbClr val="32322F"/>
                </a:solidFill>
                <a:latin typeface="+mn-ea"/>
                <a:cs typeface="Inter" pitchFamily="34" charset="-120"/>
              </a:rPr>
              <a:t>학습에</a:t>
            </a:r>
            <a:r>
              <a:rPr lang="en-US" altLang="ko-KR" sz="1400" b="1" dirty="0">
                <a:solidFill>
                  <a:srgbClr val="32322F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sz="1400" b="1" dirty="0" err="1">
                <a:solidFill>
                  <a:srgbClr val="32322F"/>
                </a:solidFill>
                <a:latin typeface="+mn-ea"/>
                <a:cs typeface="Inter" pitchFamily="34" charset="-120"/>
              </a:rPr>
              <a:t>유리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8B1A854-96ED-8909-140C-7C7D2021422B}"/>
              </a:ext>
            </a:extLst>
          </p:cNvPr>
          <p:cNvSpPr/>
          <p:nvPr/>
        </p:nvSpPr>
        <p:spPr>
          <a:xfrm>
            <a:off x="1504233" y="3429000"/>
            <a:ext cx="2628235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4744"/>
                </a:solidFill>
                <a:latin typeface="+mn-ea"/>
                <a:cs typeface="Inter" pitchFamily="34" charset="-120"/>
              </a:rPr>
              <a:t>Autoformer, TFT, PatchTST</a:t>
            </a:r>
            <a:endParaRPr lang="en-US" sz="1600" dirty="0">
              <a:latin typeface="+mn-ea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46A5923-02B1-9B47-02F1-03F50B1762F9}"/>
              </a:ext>
            </a:extLst>
          </p:cNvPr>
          <p:cNvSpPr/>
          <p:nvPr/>
        </p:nvSpPr>
        <p:spPr>
          <a:xfrm>
            <a:off x="1510878" y="3076797"/>
            <a:ext cx="2598331" cy="3355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22320"/>
                </a:solidFill>
                <a:latin typeface="+mn-ea"/>
                <a:cs typeface="Inter" pitchFamily="34" charset="-120"/>
              </a:rPr>
              <a:t>Transformer Family</a:t>
            </a:r>
            <a:endParaRPr lang="en-US" dirty="0">
              <a:latin typeface="+mn-ea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5B64EB0A-B80E-88B4-67E1-72D7BFEE528A}"/>
              </a:ext>
            </a:extLst>
          </p:cNvPr>
          <p:cNvSpPr/>
          <p:nvPr/>
        </p:nvSpPr>
        <p:spPr>
          <a:xfrm>
            <a:off x="1172904" y="3963951"/>
            <a:ext cx="76422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4A4A46"/>
                </a:solidFill>
                <a:latin typeface="+mn-ea"/>
                <a:cs typeface="Inter" pitchFamily="34" charset="-120"/>
              </a:rPr>
              <a:t>↑</a:t>
            </a:r>
            <a:endParaRPr lang="en-US" sz="730" dirty="0">
              <a:latin typeface="+mn-ea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9737B9D0-1005-AD13-3E32-2E8853FC03EA}"/>
              </a:ext>
            </a:extLst>
          </p:cNvPr>
          <p:cNvSpPr/>
          <p:nvPr/>
        </p:nvSpPr>
        <p:spPr>
          <a:xfrm>
            <a:off x="966898" y="3963951"/>
            <a:ext cx="69776" cy="1827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52524F"/>
                </a:solidFill>
                <a:latin typeface="+mn-ea"/>
                <a:cs typeface="Inter" pitchFamily="34" charset="-120"/>
              </a:rPr>
              <a:t>T</a:t>
            </a:r>
            <a:endParaRPr lang="en-US" sz="892" dirty="0">
              <a:latin typeface="+mn-ea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74FC1D4-9DF8-16F8-B964-CF6DAA8D090B}"/>
              </a:ext>
            </a:extLst>
          </p:cNvPr>
          <p:cNvSpPr/>
          <p:nvPr/>
        </p:nvSpPr>
        <p:spPr>
          <a:xfrm>
            <a:off x="754247" y="3963951"/>
            <a:ext cx="69776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dirty="0">
                <a:solidFill>
                  <a:srgbClr val="605F5C"/>
                </a:solidFill>
                <a:latin typeface="+mn-ea"/>
                <a:cs typeface="Inter" pitchFamily="34" charset="-120"/>
              </a:rPr>
              <a:t>T</a:t>
            </a:r>
            <a:endParaRPr lang="en-US" sz="892" dirty="0">
              <a:latin typeface="+mn-ea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0E6804BB-AFA4-D54A-9BB5-347530722B82}"/>
              </a:ext>
            </a:extLst>
          </p:cNvPr>
          <p:cNvSpPr/>
          <p:nvPr/>
        </p:nvSpPr>
        <p:spPr>
          <a:xfrm>
            <a:off x="780828" y="3465549"/>
            <a:ext cx="451884" cy="2093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33" b="1" dirty="0">
                <a:solidFill>
                  <a:srgbClr val="4C5759"/>
                </a:solidFill>
                <a:latin typeface="+mn-ea"/>
                <a:cs typeface="Inter" pitchFamily="34" charset="-120"/>
              </a:rPr>
              <a:t>Multi-</a:t>
            </a:r>
            <a:endParaRPr lang="en-US" sz="733" dirty="0">
              <a:latin typeface="+mn-ea"/>
            </a:endParaRPr>
          </a:p>
          <a:p>
            <a:pPr marL="0" indent="0" algn="ctr">
              <a:buNone/>
            </a:pPr>
            <a:r>
              <a:rPr lang="en-US" sz="733" b="1" dirty="0">
                <a:solidFill>
                  <a:srgbClr val="4C5759"/>
                </a:solidFill>
                <a:latin typeface="+mn-ea"/>
                <a:cs typeface="Inter" pitchFamily="34" charset="-120"/>
              </a:rPr>
              <a:t>Head</a:t>
            </a:r>
            <a:endParaRPr lang="en-US" sz="733" dirty="0">
              <a:latin typeface="+mn-ea"/>
            </a:endParaRPr>
          </a:p>
          <a:p>
            <a:pPr marL="0" indent="0" algn="ctr">
              <a:buNone/>
            </a:pPr>
            <a:r>
              <a:rPr lang="en-US" sz="733" b="1" dirty="0">
                <a:solidFill>
                  <a:srgbClr val="4C5759"/>
                </a:solidFill>
                <a:latin typeface="+mn-ea"/>
                <a:cs typeface="Inter" pitchFamily="34" charset="-120"/>
              </a:rPr>
              <a:t>Attention</a:t>
            </a:r>
            <a:endParaRPr lang="en-US" sz="733" dirty="0">
              <a:latin typeface="+mn-ea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33C339B4-5FE4-7DC2-F419-F6080AE36999}"/>
              </a:ext>
            </a:extLst>
          </p:cNvPr>
          <p:cNvSpPr/>
          <p:nvPr/>
        </p:nvSpPr>
        <p:spPr>
          <a:xfrm>
            <a:off x="887154" y="3199735"/>
            <a:ext cx="229265" cy="83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17" dirty="0">
                <a:solidFill>
                  <a:srgbClr val="66665E"/>
                </a:solidFill>
                <a:latin typeface="+mn-ea"/>
                <a:cs typeface="Inter" pitchFamily="34" charset="-120"/>
              </a:rPr>
              <a:t>Fonst</a:t>
            </a:r>
            <a:endParaRPr lang="en-US" sz="717" dirty="0">
              <a:latin typeface="+mn-ea"/>
            </a:endParaRPr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223C3ED1-901C-FC90-66C9-1E8482472563}"/>
              </a:ext>
            </a:extLst>
          </p:cNvPr>
          <p:cNvSpPr/>
          <p:nvPr/>
        </p:nvSpPr>
        <p:spPr>
          <a:xfrm>
            <a:off x="4678326" y="1289198"/>
            <a:ext cx="4073599" cy="1422105"/>
          </a:xfrm>
          <a:prstGeom prst="rect">
            <a:avLst/>
          </a:prstGeom>
          <a:solidFill>
            <a:srgbClr val="F7F6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1" descr="preencoded.png">
            <a:extLst>
              <a:ext uri="{FF2B5EF4-FFF2-40B4-BE49-F238E27FC236}">
                <a16:creationId xmlns:a16="http://schemas.microsoft.com/office/drawing/2014/main" id="{428FD597-5EEB-B77A-3B9F-8BDF2CCC27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814" y="1701209"/>
            <a:ext cx="917058" cy="604727"/>
          </a:xfrm>
          <a:prstGeom prst="rect">
            <a:avLst/>
          </a:prstGeom>
        </p:spPr>
      </p:pic>
      <p:sp>
        <p:nvSpPr>
          <p:cNvPr id="34" name="Text 23">
            <a:extLst>
              <a:ext uri="{FF2B5EF4-FFF2-40B4-BE49-F238E27FC236}">
                <a16:creationId xmlns:a16="http://schemas.microsoft.com/office/drawing/2014/main" id="{BD8D3373-6352-937A-9C2F-5B8161836A6F}"/>
              </a:ext>
            </a:extLst>
          </p:cNvPr>
          <p:cNvSpPr/>
          <p:nvPr/>
        </p:nvSpPr>
        <p:spPr>
          <a:xfrm>
            <a:off x="5930974" y="2357516"/>
            <a:ext cx="236242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555269"/>
                </a:solidFill>
                <a:latin typeface="+mn-ea"/>
                <a:cs typeface="Inter" pitchFamily="34" charset="-120"/>
              </a:rPr>
              <a:t>Recursive Forecasting </a:t>
            </a:r>
            <a:r>
              <a:rPr lang="ko-KR" altLang="en-US" sz="1400" b="1" dirty="0">
                <a:solidFill>
                  <a:srgbClr val="555269"/>
                </a:solidFill>
                <a:latin typeface="+mn-ea"/>
                <a:cs typeface="Inter" pitchFamily="34" charset="-120"/>
              </a:rPr>
              <a:t>방식</a:t>
            </a:r>
            <a:endParaRPr lang="en-US" sz="1400" dirty="0">
              <a:latin typeface="+mn-ea"/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E4E25265-8C28-48FF-4C47-4749247046AC}"/>
              </a:ext>
            </a:extLst>
          </p:cNvPr>
          <p:cNvSpPr/>
          <p:nvPr/>
        </p:nvSpPr>
        <p:spPr>
          <a:xfrm>
            <a:off x="5924328" y="1824148"/>
            <a:ext cx="3144212" cy="5382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LSTM, GRU, DeepAR </a:t>
            </a:r>
            <a:r>
              <a:rPr lang="en-US" sz="16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순차적</a:t>
            </a:r>
            <a:r>
              <a:rPr lang="en-US" sz="16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데이터</a:t>
            </a:r>
            <a:r>
              <a:rPr lang="en-US" sz="16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 </a:t>
            </a:r>
            <a:r>
              <a:rPr lang="en-US" sz="16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처리에</a:t>
            </a:r>
            <a:r>
              <a:rPr lang="en-US" sz="1600" b="1" dirty="0">
                <a:solidFill>
                  <a:srgbClr val="3D3D3A"/>
                </a:solidFill>
                <a:latin typeface="+mn-ea"/>
                <a:cs typeface="Inter" pitchFamily="34" charset="-120"/>
              </a:rPr>
              <a:t> </a:t>
            </a:r>
            <a:r>
              <a:rPr lang="en-US" sz="1600" b="1" dirty="0" err="1">
                <a:solidFill>
                  <a:srgbClr val="3D3D3A"/>
                </a:solidFill>
                <a:latin typeface="+mn-ea"/>
                <a:cs typeface="Inter" pitchFamily="34" charset="-120"/>
              </a:rPr>
              <a:t>강점</a:t>
            </a:r>
            <a:endParaRPr lang="en-US" sz="1600" dirty="0">
              <a:latin typeface="+mn-ea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F3D55F82-FDA6-5DD2-2309-4E0F751490E7}"/>
              </a:ext>
            </a:extLst>
          </p:cNvPr>
          <p:cNvSpPr/>
          <p:nvPr/>
        </p:nvSpPr>
        <p:spPr>
          <a:xfrm>
            <a:off x="5937619" y="1471945"/>
            <a:ext cx="1535076" cy="3289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52523"/>
                </a:solidFill>
                <a:latin typeface="+mn-ea"/>
                <a:cs typeface="Inter" pitchFamily="34" charset="-120"/>
              </a:rPr>
              <a:t>RNN Family</a:t>
            </a:r>
            <a:endParaRPr lang="en-US" dirty="0">
              <a:latin typeface="+mn-ea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B1F7C966-7AD2-3666-A30E-9D6829540713}"/>
              </a:ext>
            </a:extLst>
          </p:cNvPr>
          <p:cNvSpPr/>
          <p:nvPr/>
        </p:nvSpPr>
        <p:spPr>
          <a:xfrm>
            <a:off x="392076" y="1289198"/>
            <a:ext cx="4073599" cy="1422105"/>
          </a:xfrm>
          <a:prstGeom prst="rect">
            <a:avLst/>
          </a:prstGeom>
          <a:solidFill>
            <a:srgbClr val="F7F6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2" descr="preencoded.png">
            <a:extLst>
              <a:ext uri="{FF2B5EF4-FFF2-40B4-BE49-F238E27FC236}">
                <a16:creationId xmlns:a16="http://schemas.microsoft.com/office/drawing/2014/main" id="{49D9CC44-63B1-E87D-2707-35018B0BF4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9134" y="1800890"/>
            <a:ext cx="162811" cy="372140"/>
          </a:xfrm>
          <a:prstGeom prst="rect">
            <a:avLst/>
          </a:prstGeom>
        </p:spPr>
      </p:pic>
      <p:pic>
        <p:nvPicPr>
          <p:cNvPr id="39" name="Image 13" descr="preencoded.png">
            <a:extLst>
              <a:ext uri="{FF2B5EF4-FFF2-40B4-BE49-F238E27FC236}">
                <a16:creationId xmlns:a16="http://schemas.microsoft.com/office/drawing/2014/main" id="{DBB2A15A-C4A8-07DB-8B02-15C4E3DCC9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564" y="1741081"/>
            <a:ext cx="618017" cy="531628"/>
          </a:xfrm>
          <a:prstGeom prst="rect">
            <a:avLst/>
          </a:prstGeom>
        </p:spPr>
      </p:pic>
      <p:pic>
        <p:nvPicPr>
          <p:cNvPr id="40" name="Image 14" descr="preencoded.png">
            <a:extLst>
              <a:ext uri="{FF2B5EF4-FFF2-40B4-BE49-F238E27FC236}">
                <a16:creationId xmlns:a16="http://schemas.microsoft.com/office/drawing/2014/main" id="{9B89D40F-F3C9-756C-0EA5-67D7C8BFFF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84" y="1525108"/>
            <a:ext cx="584791" cy="950285"/>
          </a:xfrm>
          <a:prstGeom prst="rect">
            <a:avLst/>
          </a:prstGeom>
        </p:spPr>
      </p:pic>
      <p:sp>
        <p:nvSpPr>
          <p:cNvPr id="43" name="Text 29">
            <a:extLst>
              <a:ext uri="{FF2B5EF4-FFF2-40B4-BE49-F238E27FC236}">
                <a16:creationId xmlns:a16="http://schemas.microsoft.com/office/drawing/2014/main" id="{17A732AC-6687-0740-0986-D680EB0955A6}"/>
              </a:ext>
            </a:extLst>
          </p:cNvPr>
          <p:cNvSpPr/>
          <p:nvPr/>
        </p:nvSpPr>
        <p:spPr>
          <a:xfrm>
            <a:off x="1638077" y="2305936"/>
            <a:ext cx="271130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ko-KR" sz="1400" b="1" dirty="0">
                <a:solidFill>
                  <a:srgbClr val="A0665D"/>
                </a:solidFill>
                <a:latin typeface="+mn-ea"/>
                <a:cs typeface="Inter" pitchFamily="34" charset="-120"/>
              </a:rPr>
              <a:t>Direct Forecasting </a:t>
            </a:r>
            <a:r>
              <a:rPr lang="en-US" altLang="ko-KR" sz="1400" b="1" dirty="0" err="1">
                <a:solidFill>
                  <a:srgbClr val="3A3A37"/>
                </a:solidFill>
                <a:latin typeface="+mn-ea"/>
                <a:cs typeface="Inter" pitchFamily="34" charset="-120"/>
              </a:rPr>
              <a:t>방식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9819D5FD-90B3-535F-D706-F49943D1C7A8}"/>
              </a:ext>
            </a:extLst>
          </p:cNvPr>
          <p:cNvSpPr/>
          <p:nvPr/>
        </p:nvSpPr>
        <p:spPr>
          <a:xfrm>
            <a:off x="1644724" y="1824148"/>
            <a:ext cx="2704656" cy="481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413E"/>
                </a:solidFill>
                <a:latin typeface="+mn-ea"/>
                <a:cs typeface="Inter" pitchFamily="34" charset="-120"/>
              </a:rPr>
              <a:t>NHITS, NBEATS, MLP</a:t>
            </a:r>
          </a:p>
          <a:p>
            <a:r>
              <a:rPr lang="en-US" altLang="ko-KR" sz="1600" b="1" dirty="0" err="1">
                <a:solidFill>
                  <a:srgbClr val="41413D"/>
                </a:solidFill>
                <a:latin typeface="+mn-ea"/>
                <a:cs typeface="Inter" pitchFamily="34" charset="-120"/>
              </a:rPr>
              <a:t>빠르고</a:t>
            </a:r>
            <a:r>
              <a:rPr lang="en-US" altLang="ko-KR" sz="1600" b="1" dirty="0">
                <a:solidFill>
                  <a:srgbClr val="41413D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sz="1600" b="1" dirty="0" err="1">
                <a:solidFill>
                  <a:srgbClr val="41413D"/>
                </a:solidFill>
                <a:latin typeface="+mn-ea"/>
                <a:cs typeface="Inter" pitchFamily="34" charset="-120"/>
              </a:rPr>
              <a:t>강력함</a:t>
            </a:r>
            <a:endParaRPr lang="en-US" sz="1600" dirty="0">
              <a:latin typeface="+mn-ea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5EF064EA-1185-A006-61F9-9BBC7F696ECF}"/>
              </a:ext>
            </a:extLst>
          </p:cNvPr>
          <p:cNvSpPr/>
          <p:nvPr/>
        </p:nvSpPr>
        <p:spPr>
          <a:xfrm>
            <a:off x="1658015" y="1468622"/>
            <a:ext cx="1508494" cy="3289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42422"/>
                </a:solidFill>
                <a:latin typeface="+mn-ea"/>
                <a:cs typeface="Inter" pitchFamily="34" charset="-120"/>
              </a:rPr>
              <a:t>MLP Family</a:t>
            </a:r>
            <a:endParaRPr lang="en-US" dirty="0">
              <a:latin typeface="+mn-ea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32031A35-D0CA-3043-BFA4-A61844F9C883}"/>
              </a:ext>
            </a:extLst>
          </p:cNvPr>
          <p:cNvSpPr/>
          <p:nvPr/>
        </p:nvSpPr>
        <p:spPr>
          <a:xfrm>
            <a:off x="468497" y="4393205"/>
            <a:ext cx="8104003" cy="2425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9" b="1" dirty="0">
                <a:solidFill>
                  <a:srgbClr val="454542"/>
                </a:solidFill>
                <a:latin typeface="+mn-ea"/>
                <a:cs typeface="Inter" pitchFamily="34" charset="-120"/>
              </a:rPr>
              <a:t>Direct vs. Recursive: 모든 미래 시점을 한 번에 예측하는 Direct 방식(MLP 등)은 오류 누적(Error Propagation)이 적은</a:t>
            </a:r>
            <a:endParaRPr lang="en-US" sz="1269" dirty="0">
              <a:latin typeface="+mn-ea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F315A678-B659-7E75-AF8C-C2164C0FDA45}"/>
              </a:ext>
            </a:extLst>
          </p:cNvPr>
          <p:cNvSpPr/>
          <p:nvPr/>
        </p:nvSpPr>
        <p:spPr>
          <a:xfrm>
            <a:off x="468497" y="4694885"/>
            <a:ext cx="7824899" cy="21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303" b="1" dirty="0">
                <a:solidFill>
                  <a:srgbClr val="3F403C"/>
                </a:solidFill>
                <a:latin typeface="+mn-ea"/>
                <a:cs typeface="Inter" pitchFamily="34" charset="-120"/>
              </a:rPr>
              <a:t>반면, 한 </a:t>
            </a:r>
            <a:r>
              <a:rPr lang="en-US" sz="1303" b="1" dirty="0" err="1">
                <a:solidFill>
                  <a:srgbClr val="3F403C"/>
                </a:solidFill>
                <a:latin typeface="+mn-ea"/>
                <a:cs typeface="Inter" pitchFamily="34" charset="-120"/>
              </a:rPr>
              <a:t>단계씩</a:t>
            </a:r>
            <a:r>
              <a:rPr lang="en-US" sz="1303" b="1" dirty="0">
                <a:solidFill>
                  <a:srgbClr val="3F403C"/>
                </a:solidFill>
                <a:latin typeface="+mn-ea"/>
                <a:cs typeface="Inter" pitchFamily="34" charset="-120"/>
              </a:rPr>
              <a:t> </a:t>
            </a:r>
            <a:r>
              <a:rPr lang="en-US" sz="1303" b="1" dirty="0" err="1">
                <a:solidFill>
                  <a:srgbClr val="3F403C"/>
                </a:solidFill>
                <a:latin typeface="+mn-ea"/>
                <a:cs typeface="Inter" pitchFamily="34" charset="-120"/>
              </a:rPr>
              <a:t>예측하는</a:t>
            </a:r>
            <a:r>
              <a:rPr lang="en-US" sz="1303" b="1" dirty="0">
                <a:solidFill>
                  <a:srgbClr val="3F403C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sz="1400" b="1" dirty="0">
                <a:solidFill>
                  <a:srgbClr val="373834"/>
                </a:solidFill>
                <a:latin typeface="+mn-ea"/>
                <a:cs typeface="Inter" pitchFamily="34" charset="-120"/>
              </a:rPr>
              <a:t>Recursive </a:t>
            </a:r>
            <a:r>
              <a:rPr lang="en-US" altLang="ko-KR" sz="1400" b="1" dirty="0" err="1">
                <a:solidFill>
                  <a:srgbClr val="373834"/>
                </a:solidFill>
                <a:latin typeface="+mn-ea"/>
                <a:cs typeface="Inter" pitchFamily="34" charset="-120"/>
              </a:rPr>
              <a:t>방식</a:t>
            </a:r>
            <a:r>
              <a:rPr lang="en-US" altLang="ko-KR" sz="1400" b="1" dirty="0">
                <a:solidFill>
                  <a:srgbClr val="373834"/>
                </a:solidFill>
                <a:latin typeface="+mn-ea"/>
                <a:cs typeface="Inter" pitchFamily="34" charset="-120"/>
              </a:rPr>
              <a:t>(RNN)은 </a:t>
            </a:r>
            <a:r>
              <a:rPr lang="en-US" altLang="ko-KR" sz="1400" b="1" dirty="0" err="1">
                <a:solidFill>
                  <a:srgbClr val="373834"/>
                </a:solidFill>
                <a:latin typeface="+mn-ea"/>
                <a:cs typeface="Inter" pitchFamily="34" charset="-120"/>
              </a:rPr>
              <a:t>계산</a:t>
            </a:r>
            <a:r>
              <a:rPr lang="en-US" altLang="ko-KR" sz="1400" b="1" dirty="0">
                <a:solidFill>
                  <a:srgbClr val="373834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sz="1400" b="1" dirty="0" err="1">
                <a:solidFill>
                  <a:srgbClr val="373834"/>
                </a:solidFill>
                <a:latin typeface="+mn-ea"/>
                <a:cs typeface="Inter" pitchFamily="34" charset="-120"/>
              </a:rPr>
              <a:t>효율성이</a:t>
            </a:r>
            <a:r>
              <a:rPr lang="en-US" altLang="ko-KR" sz="1400" b="1" dirty="0">
                <a:solidFill>
                  <a:srgbClr val="373834"/>
                </a:solidFill>
                <a:latin typeface="+mn-ea"/>
                <a:cs typeface="Inter" pitchFamily="34" charset="-120"/>
              </a:rPr>
              <a:t> </a:t>
            </a:r>
            <a:r>
              <a:rPr lang="ko-KR" altLang="en-US" sz="1400" b="1" dirty="0">
                <a:solidFill>
                  <a:srgbClr val="373834"/>
                </a:solidFill>
                <a:latin typeface="+mn-ea"/>
                <a:cs typeface="Inter" pitchFamily="34" charset="-120"/>
              </a:rPr>
              <a:t>높음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3F6148E7-022D-C724-B6F9-DFF30830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49" y="4914182"/>
            <a:ext cx="1157491" cy="6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4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229D1-36F3-35F3-181D-2339DC22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아키텍처 </a:t>
            </a:r>
            <a:r>
              <a:rPr lang="en-US" altLang="ko-KR" dirty="0"/>
              <a:t>Ⅱ</a:t>
            </a:r>
            <a:endParaRPr lang="ko-KR" altLang="en-US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F9369E9-5C45-A607-5D7B-0FAF36C9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584"/>
            <a:ext cx="4528805" cy="13291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C5CBE628-F88F-DAFF-310C-6450AF1BD233}"/>
              </a:ext>
            </a:extLst>
          </p:cNvPr>
          <p:cNvSpPr/>
          <p:nvPr/>
        </p:nvSpPr>
        <p:spPr>
          <a:xfrm>
            <a:off x="481788" y="4189892"/>
            <a:ext cx="384765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758" dirty="0">
              <a:latin typeface="+mn-ea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162154D-E512-BB23-EB34-CDCC113C0227}"/>
              </a:ext>
            </a:extLst>
          </p:cNvPr>
          <p:cNvSpPr/>
          <p:nvPr/>
        </p:nvSpPr>
        <p:spPr>
          <a:xfrm>
            <a:off x="475141" y="3651681"/>
            <a:ext cx="3854303" cy="6213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434ACF"/>
                </a:solidFill>
                <a:latin typeface="+mn-ea"/>
                <a:cs typeface="Inter" pitchFamily="34" charset="-120"/>
              </a:rPr>
              <a:t>학습 규모:1,000억(100B+)개 </a:t>
            </a:r>
            <a:r>
              <a:rPr lang="en-US" altLang="ko-KR" b="1" dirty="0" err="1">
                <a:solidFill>
                  <a:srgbClr val="282828"/>
                </a:solidFill>
                <a:latin typeface="+mn-ea"/>
                <a:cs typeface="Inter" pitchFamily="34" charset="-120"/>
              </a:rPr>
              <a:t>이상의</a:t>
            </a:r>
            <a:endParaRPr lang="en-US" altLang="ko-KR" b="1" dirty="0">
              <a:solidFill>
                <a:srgbClr val="282828"/>
              </a:solidFill>
              <a:latin typeface="+mn-ea"/>
              <a:cs typeface="Inter" pitchFamily="34" charset="-120"/>
            </a:endParaRPr>
          </a:p>
          <a:p>
            <a:r>
              <a:rPr lang="en-US" altLang="ko-KR" b="1" dirty="0" err="1">
                <a:solidFill>
                  <a:srgbClr val="373737"/>
                </a:solidFill>
                <a:latin typeface="+mn-ea"/>
                <a:cs typeface="Inter" pitchFamily="34" charset="-120"/>
              </a:rPr>
              <a:t>데이터</a:t>
            </a:r>
            <a:r>
              <a:rPr lang="en-US" altLang="ko-KR" b="1" dirty="0">
                <a:solidFill>
                  <a:srgbClr val="373737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b="1" dirty="0" err="1">
                <a:solidFill>
                  <a:srgbClr val="373737"/>
                </a:solidFill>
                <a:latin typeface="+mn-ea"/>
                <a:cs typeface="Inter" pitchFamily="34" charset="-120"/>
              </a:rPr>
              <a:t>포인트</a:t>
            </a:r>
            <a:r>
              <a:rPr lang="en-US" altLang="ko-KR" b="1" dirty="0">
                <a:solidFill>
                  <a:srgbClr val="373737"/>
                </a:solidFill>
                <a:latin typeface="+mn-ea"/>
                <a:cs typeface="Inter" pitchFamily="34" charset="-120"/>
              </a:rPr>
              <a:t> (</a:t>
            </a:r>
            <a:r>
              <a:rPr lang="en-US" altLang="ko-KR" b="1" dirty="0" err="1">
                <a:solidFill>
                  <a:srgbClr val="373737"/>
                </a:solidFill>
                <a:latin typeface="+mn-ea"/>
                <a:cs typeface="Inter" pitchFamily="34" charset="-120"/>
              </a:rPr>
              <a:t>금융</a:t>
            </a:r>
            <a:r>
              <a:rPr lang="en-US" altLang="ko-KR" b="1" dirty="0">
                <a:solidFill>
                  <a:srgbClr val="373737"/>
                </a:solidFill>
                <a:latin typeface="+mn-ea"/>
                <a:cs typeface="Inter" pitchFamily="34" charset="-120"/>
              </a:rPr>
              <a:t>, </a:t>
            </a:r>
            <a:r>
              <a:rPr lang="en-US" altLang="ko-KR" b="1" dirty="0" err="1">
                <a:solidFill>
                  <a:srgbClr val="373737"/>
                </a:solidFill>
                <a:latin typeface="+mn-ea"/>
                <a:cs typeface="Inter" pitchFamily="34" charset="-120"/>
              </a:rPr>
              <a:t>날씨</a:t>
            </a:r>
            <a:r>
              <a:rPr lang="en-US" altLang="ko-KR" b="1" dirty="0">
                <a:solidFill>
                  <a:srgbClr val="373737"/>
                </a:solidFill>
                <a:latin typeface="+mn-ea"/>
                <a:cs typeface="Inter" pitchFamily="34" charset="-120"/>
              </a:rPr>
              <a:t>, </a:t>
            </a:r>
            <a:r>
              <a:rPr lang="en-US" altLang="ko-KR" b="1" dirty="0" err="1">
                <a:solidFill>
                  <a:srgbClr val="373737"/>
                </a:solidFill>
                <a:latin typeface="+mn-ea"/>
                <a:cs typeface="Inter" pitchFamily="34" charset="-120"/>
              </a:rPr>
              <a:t>에너지</a:t>
            </a:r>
            <a:r>
              <a:rPr lang="en-US" altLang="ko-KR" b="1" dirty="0">
                <a:solidFill>
                  <a:srgbClr val="373737"/>
                </a:solidFill>
                <a:latin typeface="+mn-ea"/>
                <a:cs typeface="Inter" pitchFamily="34" charset="-120"/>
              </a:rPr>
              <a:t>, IoT 등)</a:t>
            </a:r>
            <a:endParaRPr lang="en-US" altLang="ko-KR" dirty="0">
              <a:latin typeface="+mn-ea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01C9677-D4FE-C331-7DBF-0E34FAA079E3}"/>
              </a:ext>
            </a:extLst>
          </p:cNvPr>
          <p:cNvSpPr/>
          <p:nvPr/>
        </p:nvSpPr>
        <p:spPr>
          <a:xfrm>
            <a:off x="478465" y="2867530"/>
            <a:ext cx="4047017" cy="589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b="1" dirty="0" err="1">
                <a:solidFill>
                  <a:srgbClr val="3F46C6"/>
                </a:solidFill>
                <a:latin typeface="+mn-ea"/>
                <a:cs typeface="Inter" pitchFamily="34" charset="-120"/>
              </a:rPr>
              <a:t>입력처리</a:t>
            </a:r>
            <a:r>
              <a:rPr lang="en-US" b="1" dirty="0">
                <a:solidFill>
                  <a:srgbClr val="3F46C6"/>
                </a:solidFill>
                <a:latin typeface="+mn-ea"/>
                <a:cs typeface="Inter" pitchFamily="34" charset="-120"/>
              </a:rPr>
              <a:t> : </a:t>
            </a:r>
            <a:r>
              <a:rPr lang="en-US" altLang="ko-KR" b="1" dirty="0" err="1">
                <a:solidFill>
                  <a:srgbClr val="303030"/>
                </a:solidFill>
                <a:latin typeface="+mn-ea"/>
                <a:cs typeface="Inter" pitchFamily="34" charset="-120"/>
              </a:rPr>
              <a:t>과거</a:t>
            </a:r>
            <a:r>
              <a:rPr lang="en-US" altLang="ko-KR" b="1" dirty="0">
                <a:solidFill>
                  <a:srgbClr val="303030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b="1" dirty="0" err="1">
                <a:solidFill>
                  <a:srgbClr val="303030"/>
                </a:solidFill>
                <a:latin typeface="+mn-ea"/>
                <a:cs typeface="Inter" pitchFamily="34" charset="-120"/>
              </a:rPr>
              <a:t>데이터</a:t>
            </a:r>
            <a:r>
              <a:rPr lang="en-US" altLang="ko-KR" b="1" dirty="0">
                <a:solidFill>
                  <a:srgbClr val="303030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b="1" dirty="0" err="1">
                <a:solidFill>
                  <a:srgbClr val="303030"/>
                </a:solidFill>
                <a:latin typeface="+mn-ea"/>
                <a:cs typeface="Inter" pitchFamily="34" charset="-120"/>
              </a:rPr>
              <a:t>윈도우</a:t>
            </a:r>
            <a:r>
              <a:rPr lang="en-US" altLang="ko-KR" b="1" dirty="0">
                <a:solidFill>
                  <a:srgbClr val="303030"/>
                </a:solidFill>
                <a:latin typeface="+mn-ea"/>
                <a:cs typeface="Inter" pitchFamily="34" charset="-120"/>
              </a:rPr>
              <a:t> + </a:t>
            </a:r>
            <a:r>
              <a:rPr lang="en-US" altLang="ko-KR" b="1" dirty="0" err="1">
                <a:solidFill>
                  <a:srgbClr val="303030"/>
                </a:solidFill>
                <a:latin typeface="+mn-ea"/>
                <a:cs typeface="Inter" pitchFamily="34" charset="-120"/>
              </a:rPr>
              <a:t>로컬</a:t>
            </a:r>
            <a:r>
              <a:rPr lang="en-US" altLang="ko-KR" b="1" dirty="0">
                <a:solidFill>
                  <a:srgbClr val="303030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b="1" dirty="0" err="1">
                <a:solidFill>
                  <a:srgbClr val="303030"/>
                </a:solidFill>
                <a:latin typeface="+mn-ea"/>
                <a:cs typeface="Inter" pitchFamily="34" charset="-120"/>
              </a:rPr>
              <a:t>위치</a:t>
            </a:r>
            <a:endParaRPr lang="en-US" altLang="ko-KR" b="1" dirty="0">
              <a:solidFill>
                <a:srgbClr val="303030"/>
              </a:solidFill>
              <a:latin typeface="+mn-ea"/>
              <a:cs typeface="Inter" pitchFamily="34" charset="-120"/>
            </a:endParaRPr>
          </a:p>
          <a:p>
            <a:r>
              <a:rPr lang="en-US" altLang="ko-KR" b="1" dirty="0">
                <a:solidFill>
                  <a:srgbClr val="333333"/>
                </a:solidFill>
                <a:latin typeface="+mn-ea"/>
                <a:cs typeface="Inter" pitchFamily="34" charset="-120"/>
              </a:rPr>
              <a:t>         </a:t>
            </a:r>
            <a:r>
              <a:rPr lang="en-US" altLang="ko-KR" b="1" dirty="0" err="1">
                <a:solidFill>
                  <a:srgbClr val="333333"/>
                </a:solidFill>
                <a:latin typeface="+mn-ea"/>
                <a:cs typeface="Inter" pitchFamily="34" charset="-120"/>
              </a:rPr>
              <a:t>인코딩</a:t>
            </a:r>
            <a:r>
              <a:rPr lang="en-US" altLang="ko-KR" b="1" dirty="0">
                <a:solidFill>
                  <a:srgbClr val="333333"/>
                </a:solidFill>
                <a:latin typeface="+mn-ea"/>
                <a:cs typeface="Inter" pitchFamily="34" charset="-120"/>
              </a:rPr>
              <a:t>(Local positional encoding)</a:t>
            </a:r>
            <a:endParaRPr lang="en-US" altLang="ko-KR" dirty="0">
              <a:latin typeface="+mn-ea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0E618FA3-F2FD-1153-F034-1C5826D53BC0}"/>
              </a:ext>
            </a:extLst>
          </p:cNvPr>
          <p:cNvSpPr/>
          <p:nvPr/>
        </p:nvSpPr>
        <p:spPr>
          <a:xfrm>
            <a:off x="478465" y="2030217"/>
            <a:ext cx="4125380" cy="7608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800" b="1" dirty="0" err="1">
                <a:solidFill>
                  <a:srgbClr val="444AC5"/>
                </a:solidFill>
                <a:latin typeface="+mn-ea"/>
                <a:cs typeface="Inter" pitchFamily="34" charset="-120"/>
              </a:rPr>
              <a:t>특징</a:t>
            </a:r>
            <a:r>
              <a:rPr lang="en-US" sz="1800" b="1" dirty="0">
                <a:solidFill>
                  <a:srgbClr val="444AC5"/>
                </a:solidFill>
                <a:latin typeface="+mn-ea"/>
                <a:cs typeface="Inter" pitchFamily="34" charset="-120"/>
              </a:rPr>
              <a:t> : </a:t>
            </a:r>
            <a:r>
              <a:rPr lang="en-US" altLang="ko-KR" b="1" dirty="0" err="1">
                <a:solidFill>
                  <a:srgbClr val="343434"/>
                </a:solidFill>
                <a:latin typeface="+mn-ea"/>
                <a:cs typeface="Inter" pitchFamily="34" charset="-120"/>
              </a:rPr>
              <a:t>잔차</a:t>
            </a:r>
            <a:r>
              <a:rPr lang="en-US" altLang="ko-KR" b="1" dirty="0">
                <a:solidFill>
                  <a:srgbClr val="343434"/>
                </a:solidFill>
                <a:latin typeface="+mn-ea"/>
                <a:cs typeface="Inter" pitchFamily="34" charset="-120"/>
              </a:rPr>
              <a:t> </a:t>
            </a:r>
            <a:r>
              <a:rPr lang="en-US" altLang="ko-KR" b="1" dirty="0" err="1">
                <a:solidFill>
                  <a:srgbClr val="343434"/>
                </a:solidFill>
                <a:latin typeface="+mn-ea"/>
                <a:cs typeface="Inter" pitchFamily="34" charset="-120"/>
              </a:rPr>
              <a:t>연결</a:t>
            </a:r>
            <a:r>
              <a:rPr lang="en-US" altLang="ko-KR" b="1" dirty="0">
                <a:solidFill>
                  <a:srgbClr val="343434"/>
                </a:solidFill>
                <a:latin typeface="+mn-ea"/>
                <a:cs typeface="Inter" pitchFamily="34" charset="-120"/>
              </a:rPr>
              <a:t>(Residual connections)</a:t>
            </a:r>
          </a:p>
          <a:p>
            <a:r>
              <a:rPr lang="en-US" altLang="ko-KR" b="1" dirty="0">
                <a:solidFill>
                  <a:srgbClr val="383838"/>
                </a:solidFill>
                <a:latin typeface="+mn-ea"/>
                <a:cs typeface="Inter" pitchFamily="34" charset="-120"/>
              </a:rPr>
              <a:t>및 층 </a:t>
            </a:r>
            <a:r>
              <a:rPr lang="en-US" altLang="ko-KR" b="1" dirty="0" err="1">
                <a:solidFill>
                  <a:srgbClr val="383838"/>
                </a:solidFill>
                <a:latin typeface="+mn-ea"/>
                <a:cs typeface="Inter" pitchFamily="34" charset="-120"/>
              </a:rPr>
              <a:t>정규화</a:t>
            </a:r>
            <a:r>
              <a:rPr lang="en-US" altLang="ko-KR" b="1" dirty="0">
                <a:solidFill>
                  <a:srgbClr val="383838"/>
                </a:solidFill>
                <a:latin typeface="+mn-ea"/>
                <a:cs typeface="Inter" pitchFamily="34" charset="-120"/>
              </a:rPr>
              <a:t>(Layer normalization) </a:t>
            </a:r>
            <a:r>
              <a:rPr lang="en-US" altLang="ko-KR" b="1" dirty="0" err="1">
                <a:solidFill>
                  <a:srgbClr val="383838"/>
                </a:solidFill>
                <a:latin typeface="+mn-ea"/>
                <a:cs typeface="Inter" pitchFamily="34" charset="-120"/>
              </a:rPr>
              <a:t>포함</a:t>
            </a:r>
            <a:endParaRPr lang="en-US" altLang="ko-KR" dirty="0">
              <a:latin typeface="+mn-ea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A9615B8-7CE9-9202-98BE-734CCF88130A}"/>
              </a:ext>
            </a:extLst>
          </p:cNvPr>
          <p:cNvSpPr/>
          <p:nvPr/>
        </p:nvSpPr>
        <p:spPr>
          <a:xfrm>
            <a:off x="478465" y="1372327"/>
            <a:ext cx="4448377" cy="542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1795" b="1" dirty="0" err="1">
                <a:solidFill>
                  <a:srgbClr val="4C53CC"/>
                </a:solidFill>
                <a:latin typeface="+mn-ea"/>
                <a:cs typeface="Inter" pitchFamily="34" charset="-120"/>
              </a:rPr>
              <a:t>구조</a:t>
            </a:r>
            <a:r>
              <a:rPr lang="en-US" sz="1795" b="1" dirty="0">
                <a:solidFill>
                  <a:srgbClr val="4C53CC"/>
                </a:solidFill>
                <a:latin typeface="+mn-ea"/>
                <a:cs typeface="Inter" pitchFamily="34" charset="-120"/>
              </a:rPr>
              <a:t> : </a:t>
            </a:r>
            <a:r>
              <a:rPr lang="en-US" altLang="ko-KR" b="1" dirty="0" err="1">
                <a:solidFill>
                  <a:srgbClr val="393939"/>
                </a:solidFill>
                <a:latin typeface="+mn-ea"/>
                <a:cs typeface="Inter" pitchFamily="34" charset="-120"/>
              </a:rPr>
              <a:t>인코더-디코더</a:t>
            </a:r>
            <a:r>
              <a:rPr lang="en-US" altLang="ko-KR" b="1" dirty="0">
                <a:solidFill>
                  <a:srgbClr val="393939"/>
                </a:solidFill>
                <a:latin typeface="+mn-ea"/>
                <a:cs typeface="Inter" pitchFamily="34" charset="-120"/>
              </a:rPr>
              <a:t>(</a:t>
            </a:r>
            <a:r>
              <a:rPr lang="en-US" altLang="ko-KR" sz="1600" b="1" dirty="0">
                <a:solidFill>
                  <a:srgbClr val="393939"/>
                </a:solidFill>
                <a:latin typeface="+mn-ea"/>
                <a:cs typeface="Inter" pitchFamily="34" charset="-120"/>
              </a:rPr>
              <a:t>Encoder-Decoder</a:t>
            </a:r>
            <a:r>
              <a:rPr lang="en-US" altLang="ko-KR" b="1" dirty="0">
                <a:solidFill>
                  <a:srgbClr val="393939"/>
                </a:solidFill>
                <a:latin typeface="+mn-ea"/>
                <a:cs typeface="Inter" pitchFamily="34" charset="-120"/>
              </a:rPr>
              <a:t>)</a:t>
            </a:r>
          </a:p>
          <a:p>
            <a:r>
              <a:rPr lang="en-US" altLang="ko-KR" b="1" dirty="0">
                <a:solidFill>
                  <a:srgbClr val="353535"/>
                </a:solidFill>
                <a:latin typeface="+mn-ea"/>
                <a:cs typeface="Inter" pitchFamily="34" charset="-120"/>
              </a:rPr>
              <a:t>          </a:t>
            </a:r>
            <a:r>
              <a:rPr lang="en-US" altLang="ko-KR" b="1" dirty="0" err="1">
                <a:solidFill>
                  <a:srgbClr val="353535"/>
                </a:solidFill>
                <a:latin typeface="+mn-ea"/>
                <a:cs typeface="Inter" pitchFamily="34" charset="-120"/>
              </a:rPr>
              <a:t>트랜스포머</a:t>
            </a:r>
            <a:endParaRPr lang="en-US" altLang="ko-KR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8E685A-F7A7-9E20-4AAF-39064915B730}"/>
              </a:ext>
            </a:extLst>
          </p:cNvPr>
          <p:cNvSpPr txBox="1"/>
          <p:nvPr/>
        </p:nvSpPr>
        <p:spPr>
          <a:xfrm>
            <a:off x="464025" y="830662"/>
            <a:ext cx="723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n-ea"/>
              </a:rPr>
              <a:t>□ </a:t>
            </a:r>
            <a:r>
              <a:rPr lang="en-US" altLang="ko-KR" b="1" dirty="0" err="1">
                <a:latin typeface="+mn-ea"/>
              </a:rPr>
              <a:t>TimeGPT</a:t>
            </a:r>
            <a:r>
              <a:rPr lang="en-US" altLang="ko-KR" b="1" dirty="0">
                <a:latin typeface="+mn-ea"/>
              </a:rPr>
              <a:t> (</a:t>
            </a:r>
            <a:r>
              <a:rPr lang="ko-KR" altLang="en-US" b="1" dirty="0">
                <a:latin typeface="+mn-ea"/>
              </a:rPr>
              <a:t>인코더</a:t>
            </a:r>
            <a:r>
              <a:rPr lang="en-US" altLang="ko-KR" b="1" dirty="0">
                <a:latin typeface="+mn-ea"/>
              </a:rPr>
              <a:t>-</a:t>
            </a:r>
            <a:r>
              <a:rPr lang="ko-KR" altLang="en-US" b="1" dirty="0" err="1">
                <a:latin typeface="+mn-ea"/>
              </a:rPr>
              <a:t>디코더구조</a:t>
            </a:r>
            <a:r>
              <a:rPr lang="en-US" altLang="ko-KR" b="1" dirty="0">
                <a:latin typeface="+mn-ea"/>
              </a:rPr>
              <a:t>) </a:t>
            </a:r>
            <a:r>
              <a:rPr lang="ko-KR" altLang="en-US" b="1" dirty="0">
                <a:latin typeface="+mn-ea"/>
              </a:rPr>
              <a:t>아키텍처</a:t>
            </a:r>
            <a:endParaRPr lang="ko-KR" altLang="en-US" dirty="0">
              <a:latin typeface="+mn-ea"/>
            </a:endParaRPr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A1D9FF1B-E302-1B92-D467-97735246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51" y="1259294"/>
            <a:ext cx="4605227" cy="3837689"/>
          </a:xfrm>
          <a:prstGeom prst="rect">
            <a:avLst/>
          </a:prstGeom>
        </p:spPr>
      </p:pic>
      <p:sp>
        <p:nvSpPr>
          <p:cNvPr id="36" name="Shape 1">
            <a:extLst>
              <a:ext uri="{FF2B5EF4-FFF2-40B4-BE49-F238E27FC236}">
                <a16:creationId xmlns:a16="http://schemas.microsoft.com/office/drawing/2014/main" id="{7B3D4438-5936-C7B3-4AD2-A70F46BA523D}"/>
              </a:ext>
            </a:extLst>
          </p:cNvPr>
          <p:cNvSpPr/>
          <p:nvPr/>
        </p:nvSpPr>
        <p:spPr>
          <a:xfrm>
            <a:off x="5904392" y="4708230"/>
            <a:ext cx="83067" cy="3953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BC460A1B-19A8-634E-D2DE-00581B1B0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776" y="3927401"/>
            <a:ext cx="328945" cy="385430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709A6066-B228-D016-E6FD-FD054E2D0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215" y="4312831"/>
            <a:ext cx="1222744" cy="392076"/>
          </a:xfrm>
          <a:prstGeom prst="rect">
            <a:avLst/>
          </a:prstGeom>
        </p:spPr>
      </p:pic>
      <p:sp>
        <p:nvSpPr>
          <p:cNvPr id="39" name="Text 2">
            <a:extLst>
              <a:ext uri="{FF2B5EF4-FFF2-40B4-BE49-F238E27FC236}">
                <a16:creationId xmlns:a16="http://schemas.microsoft.com/office/drawing/2014/main" id="{BB330598-29E1-0302-8AD1-923C4B002D73}"/>
              </a:ext>
            </a:extLst>
          </p:cNvPr>
          <p:cNvSpPr/>
          <p:nvPr/>
        </p:nvSpPr>
        <p:spPr>
          <a:xfrm>
            <a:off x="5545544" y="4349381"/>
            <a:ext cx="830669" cy="3156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83" b="1" dirty="0">
                <a:solidFill>
                  <a:srgbClr val="4B4B4B"/>
                </a:solidFill>
                <a:latin typeface="+mn-ea"/>
                <a:cs typeface="Inter" pitchFamily="34" charset="-120"/>
              </a:rPr>
              <a:t>Input Window</a:t>
            </a:r>
            <a:endParaRPr lang="en-US" sz="1083" dirty="0">
              <a:latin typeface="+mn-ea"/>
            </a:endParaRPr>
          </a:p>
          <a:p>
            <a:pPr marL="0" indent="0" algn="l">
              <a:buNone/>
            </a:pPr>
            <a:r>
              <a:rPr lang="en-US" sz="1083" b="1" dirty="0">
                <a:solidFill>
                  <a:srgbClr val="4B4B4B"/>
                </a:solidFill>
                <a:latin typeface="+mn-ea"/>
                <a:cs typeface="Inter" pitchFamily="34" charset="-120"/>
              </a:rPr>
              <a:t>(Past Values)</a:t>
            </a:r>
            <a:endParaRPr lang="en-US" sz="1083" dirty="0">
              <a:latin typeface="+mn-ea"/>
            </a:endParaRPr>
          </a:p>
        </p:txBody>
      </p:sp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280D477E-D24B-F71E-FB72-C5CA40831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651" y="3545294"/>
            <a:ext cx="355526" cy="285750"/>
          </a:xfrm>
          <a:prstGeom prst="rect">
            <a:avLst/>
          </a:prstGeom>
        </p:spPr>
      </p:pic>
      <p:pic>
        <p:nvPicPr>
          <p:cNvPr id="41" name="Image 6" descr="preencoded.png">
            <a:extLst>
              <a:ext uri="{FF2B5EF4-FFF2-40B4-BE49-F238E27FC236}">
                <a16:creationId xmlns:a16="http://schemas.microsoft.com/office/drawing/2014/main" id="{DDB6A2ED-9913-B4E2-9ABC-8B118D6B5C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314" y="3252898"/>
            <a:ext cx="465174" cy="315654"/>
          </a:xfrm>
          <a:prstGeom prst="rect">
            <a:avLst/>
          </a:prstGeom>
        </p:spPr>
      </p:pic>
      <p:pic>
        <p:nvPicPr>
          <p:cNvPr id="42" name="Image 7" descr="preencoded.png">
            <a:extLst>
              <a:ext uri="{FF2B5EF4-FFF2-40B4-BE49-F238E27FC236}">
                <a16:creationId xmlns:a16="http://schemas.microsoft.com/office/drawing/2014/main" id="{39D2BFDE-13CC-8ED0-E3C1-500FCE95BB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3980" y="3541971"/>
            <a:ext cx="348881" cy="285750"/>
          </a:xfrm>
          <a:prstGeom prst="rect">
            <a:avLst/>
          </a:prstGeom>
        </p:spPr>
      </p:pic>
      <p:pic>
        <p:nvPicPr>
          <p:cNvPr id="43" name="Image 8" descr="preencoded.png">
            <a:extLst>
              <a:ext uri="{FF2B5EF4-FFF2-40B4-BE49-F238E27FC236}">
                <a16:creationId xmlns:a16="http://schemas.microsoft.com/office/drawing/2014/main" id="{11006813-2590-0D10-7825-660475A3A9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974" y="2997052"/>
            <a:ext cx="352203" cy="285750"/>
          </a:xfrm>
          <a:prstGeom prst="rect">
            <a:avLst/>
          </a:prstGeom>
        </p:spPr>
      </p:pic>
      <p:pic>
        <p:nvPicPr>
          <p:cNvPr id="44" name="Image 9" descr="preencoded.png">
            <a:extLst>
              <a:ext uri="{FF2B5EF4-FFF2-40B4-BE49-F238E27FC236}">
                <a16:creationId xmlns:a16="http://schemas.microsoft.com/office/drawing/2014/main" id="{B95D4C53-92C1-8E7C-3ECD-5117629F08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7302" y="3000375"/>
            <a:ext cx="348881" cy="282427"/>
          </a:xfrm>
          <a:prstGeom prst="rect">
            <a:avLst/>
          </a:prstGeom>
        </p:spPr>
      </p:pic>
      <p:pic>
        <p:nvPicPr>
          <p:cNvPr id="45" name="Image 10" descr="preencoded.png">
            <a:extLst>
              <a:ext uri="{FF2B5EF4-FFF2-40B4-BE49-F238E27FC236}">
                <a16:creationId xmlns:a16="http://schemas.microsoft.com/office/drawing/2014/main" id="{7F6152EF-CCD8-BDD2-904A-CC4233FB06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9404" y="2548491"/>
            <a:ext cx="318977" cy="358849"/>
          </a:xfrm>
          <a:prstGeom prst="rect">
            <a:avLst/>
          </a:prstGeom>
        </p:spPr>
      </p:pic>
      <p:pic>
        <p:nvPicPr>
          <p:cNvPr id="46" name="Image 11" descr="preencoded.png">
            <a:extLst>
              <a:ext uri="{FF2B5EF4-FFF2-40B4-BE49-F238E27FC236}">
                <a16:creationId xmlns:a16="http://schemas.microsoft.com/office/drawing/2014/main" id="{F2E2EA84-7C63-99B3-F566-47D11BAF95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9404" y="1880634"/>
            <a:ext cx="322299" cy="322299"/>
          </a:xfrm>
          <a:prstGeom prst="rect">
            <a:avLst/>
          </a:prstGeom>
        </p:spPr>
      </p:pic>
      <p:pic>
        <p:nvPicPr>
          <p:cNvPr id="47" name="Image 12" descr="preencoded.png">
            <a:extLst>
              <a:ext uri="{FF2B5EF4-FFF2-40B4-BE49-F238E27FC236}">
                <a16:creationId xmlns:a16="http://schemas.microsoft.com/office/drawing/2014/main" id="{E79F0061-2680-F50F-07CF-C2C07B78CD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5355" y="1269262"/>
            <a:ext cx="13291" cy="3827721"/>
          </a:xfrm>
          <a:prstGeom prst="rect">
            <a:avLst/>
          </a:prstGeom>
        </p:spPr>
      </p:pic>
      <p:sp>
        <p:nvSpPr>
          <p:cNvPr id="48" name="Text 4">
            <a:extLst>
              <a:ext uri="{FF2B5EF4-FFF2-40B4-BE49-F238E27FC236}">
                <a16:creationId xmlns:a16="http://schemas.microsoft.com/office/drawing/2014/main" id="{662B0818-A54D-C757-4416-459EFD3DDC91}"/>
              </a:ext>
            </a:extLst>
          </p:cNvPr>
          <p:cNvSpPr/>
          <p:nvPr/>
        </p:nvSpPr>
        <p:spPr>
          <a:xfrm>
            <a:off x="8283427" y="3299416"/>
            <a:ext cx="624663" cy="2392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7" b="1" dirty="0">
                <a:solidFill>
                  <a:srgbClr val="585858"/>
                </a:solidFill>
                <a:latin typeface="+mn-ea"/>
                <a:cs typeface="Inter" pitchFamily="34" charset="-120"/>
              </a:rPr>
              <a:t>Residual</a:t>
            </a:r>
            <a:endParaRPr lang="en-US" sz="887" dirty="0">
              <a:latin typeface="+mn-ea"/>
            </a:endParaRPr>
          </a:p>
          <a:p>
            <a:pPr marL="0" indent="0" algn="ctr">
              <a:buNone/>
            </a:pPr>
            <a:r>
              <a:rPr lang="en-US" sz="887" b="1" dirty="0">
                <a:solidFill>
                  <a:srgbClr val="585858"/>
                </a:solidFill>
                <a:latin typeface="+mn-ea"/>
                <a:cs typeface="Inter" pitchFamily="34" charset="-120"/>
              </a:rPr>
              <a:t>Connections</a:t>
            </a:r>
            <a:endParaRPr lang="en-US" sz="887" dirty="0">
              <a:latin typeface="+mn-ea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FD8BA22B-A199-AADE-0F8A-F655C1A13F94}"/>
              </a:ext>
            </a:extLst>
          </p:cNvPr>
          <p:cNvSpPr/>
          <p:nvPr/>
        </p:nvSpPr>
        <p:spPr>
          <a:xfrm>
            <a:off x="7167009" y="3256221"/>
            <a:ext cx="920381" cy="325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6" b="1" dirty="0">
                <a:solidFill>
                  <a:srgbClr val="4A4A4A"/>
                </a:solidFill>
                <a:latin typeface="+mn-ea"/>
                <a:cs typeface="Inter" pitchFamily="34" charset="-120"/>
              </a:rPr>
              <a:t>Decoder </a:t>
            </a:r>
          </a:p>
          <a:p>
            <a:pPr marL="0" indent="0" algn="ctr">
              <a:buNone/>
            </a:pPr>
            <a:r>
              <a:rPr lang="en-US" sz="1086" b="1" dirty="0">
                <a:solidFill>
                  <a:srgbClr val="4A4A4A"/>
                </a:solidFill>
                <a:latin typeface="+mn-ea"/>
                <a:cs typeface="Inter" pitchFamily="34" charset="-120"/>
              </a:rPr>
              <a:t>(Self-Attention)</a:t>
            </a:r>
            <a:endParaRPr lang="en-US" sz="1086" dirty="0">
              <a:latin typeface="+mn-ea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24E9CEA8-8D30-198C-3F9E-7D18C5F807D8}"/>
              </a:ext>
            </a:extLst>
          </p:cNvPr>
          <p:cNvSpPr/>
          <p:nvPr/>
        </p:nvSpPr>
        <p:spPr>
          <a:xfrm>
            <a:off x="5499026" y="3252898"/>
            <a:ext cx="920381" cy="3289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1" b="1" dirty="0">
                <a:solidFill>
                  <a:srgbClr val="525252"/>
                </a:solidFill>
                <a:latin typeface="+mn-ea"/>
                <a:cs typeface="Inter" pitchFamily="34" charset="-120"/>
              </a:rPr>
              <a:t>Encoder </a:t>
            </a:r>
          </a:p>
          <a:p>
            <a:pPr marL="0" indent="0" algn="ctr">
              <a:buNone/>
            </a:pPr>
            <a:r>
              <a:rPr lang="en-US" sz="1101" b="1" dirty="0">
                <a:solidFill>
                  <a:srgbClr val="525252"/>
                </a:solidFill>
                <a:latin typeface="+mn-ea"/>
                <a:cs typeface="Inter" pitchFamily="34" charset="-120"/>
              </a:rPr>
              <a:t>(Self-Attention)</a:t>
            </a:r>
            <a:endParaRPr lang="en-US" sz="1101" dirty="0">
              <a:latin typeface="+mn-ea"/>
            </a:endParaRP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775CF64-BDED-8E01-38FC-C7507D77D62B}"/>
              </a:ext>
            </a:extLst>
          </p:cNvPr>
          <p:cNvSpPr/>
          <p:nvPr/>
        </p:nvSpPr>
        <p:spPr>
          <a:xfrm>
            <a:off x="4675003" y="3296093"/>
            <a:ext cx="627985" cy="2425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97" b="1" dirty="0">
                <a:solidFill>
                  <a:srgbClr val="5B5B5B"/>
                </a:solidFill>
                <a:latin typeface="+mn-ea"/>
                <a:cs typeface="Inter" pitchFamily="34" charset="-120"/>
              </a:rPr>
              <a:t>Residual</a:t>
            </a:r>
            <a:endParaRPr lang="en-US" sz="897" dirty="0">
              <a:latin typeface="+mn-ea"/>
            </a:endParaRPr>
          </a:p>
          <a:p>
            <a:pPr marL="0" indent="0" algn="ctr">
              <a:buNone/>
            </a:pPr>
            <a:r>
              <a:rPr lang="en-US" sz="897" b="1" dirty="0">
                <a:solidFill>
                  <a:srgbClr val="5B5B5B"/>
                </a:solidFill>
                <a:latin typeface="+mn-ea"/>
                <a:cs typeface="Inter" pitchFamily="34" charset="-120"/>
              </a:rPr>
              <a:t>Connections</a:t>
            </a:r>
            <a:endParaRPr lang="en-US" sz="897" dirty="0">
              <a:latin typeface="+mn-ea"/>
            </a:endParaRPr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CD1C222-ED75-BDFC-4059-54692201C82A}"/>
              </a:ext>
            </a:extLst>
          </p:cNvPr>
          <p:cNvSpPr/>
          <p:nvPr/>
        </p:nvSpPr>
        <p:spPr>
          <a:xfrm>
            <a:off x="7151127" y="2286000"/>
            <a:ext cx="933672" cy="1761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6" b="1" dirty="0">
                <a:solidFill>
                  <a:srgbClr val="484848"/>
                </a:solidFill>
                <a:latin typeface="+mn-ea"/>
                <a:cs typeface="Inter" pitchFamily="34" charset="-120"/>
              </a:rPr>
              <a:t>Linear Mapping</a:t>
            </a:r>
            <a:endParaRPr lang="en-US" sz="1086" dirty="0">
              <a:latin typeface="+mn-ea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2421A7BD-B187-A30B-5BF5-5307D30CAACF}"/>
              </a:ext>
            </a:extLst>
          </p:cNvPr>
          <p:cNvSpPr/>
          <p:nvPr/>
        </p:nvSpPr>
        <p:spPr>
          <a:xfrm>
            <a:off x="7046603" y="1598206"/>
            <a:ext cx="1167048" cy="16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6" b="1" dirty="0">
                <a:solidFill>
                  <a:srgbClr val="4A4A4A"/>
                </a:solidFill>
                <a:latin typeface="+mn-ea"/>
                <a:cs typeface="Inter" pitchFamily="34" charset="-120"/>
              </a:rPr>
              <a:t>Forecast Horizon</a:t>
            </a:r>
            <a:endParaRPr lang="en-US" sz="1086" dirty="0">
              <a:latin typeface="+mn-ea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27ACA17C-8B9D-8868-2885-9318E47B17A3}"/>
              </a:ext>
            </a:extLst>
          </p:cNvPr>
          <p:cNvSpPr/>
          <p:nvPr/>
        </p:nvSpPr>
        <p:spPr>
          <a:xfrm>
            <a:off x="378789" y="4394237"/>
            <a:ext cx="4199858" cy="6213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ko-KR" b="1" dirty="0" err="1">
                <a:latin typeface="+mn-ea"/>
              </a:rPr>
              <a:t>TimeGPT</a:t>
            </a:r>
            <a:r>
              <a:rPr lang="ko-KR" altLang="en-US" b="1" dirty="0">
                <a:latin typeface="+mn-ea"/>
              </a:rPr>
              <a:t>을 활용한 </a:t>
            </a:r>
            <a:r>
              <a:rPr lang="en-US" altLang="ko-KR" b="1" dirty="0" smtClean="0">
                <a:latin typeface="+mn-ea"/>
              </a:rPr>
              <a:t>Fine-Tuning </a:t>
            </a:r>
            <a:endParaRPr lang="en-US" altLang="ko-KR" b="1" dirty="0">
              <a:latin typeface="+mn-ea"/>
            </a:endParaRPr>
          </a:p>
          <a:p>
            <a:pPr algn="ctr"/>
            <a:r>
              <a:rPr lang="ko-KR" altLang="en-US" b="1" dirty="0">
                <a:latin typeface="+mn-ea"/>
              </a:rPr>
              <a:t>예측 모델 사용</a:t>
            </a:r>
            <a:endParaRPr lang="en-US" altLang="ko-KR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506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4FC7D-830D-92B2-7743-50EA145B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솔루션 테스트 결과서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55A33F4-2C8F-00C6-786D-DA7A6F86A666}"/>
              </a:ext>
            </a:extLst>
          </p:cNvPr>
          <p:cNvGrpSpPr/>
          <p:nvPr/>
        </p:nvGrpSpPr>
        <p:grpSpPr>
          <a:xfrm>
            <a:off x="664537" y="1570126"/>
            <a:ext cx="6737529" cy="3247534"/>
            <a:chOff x="841611" y="1203390"/>
            <a:chExt cx="6878471" cy="342774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7F3370B-5AFF-6DDB-A4C3-7EF36A200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611" y="1203390"/>
              <a:ext cx="6878471" cy="342774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83F900-2105-D788-8527-13390D42B6FC}"/>
                </a:ext>
              </a:extLst>
            </p:cNvPr>
            <p:cNvSpPr txBox="1"/>
            <p:nvPr/>
          </p:nvSpPr>
          <p:spPr>
            <a:xfrm>
              <a:off x="1455761" y="1221586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/>
                <a:t>부품</a:t>
              </a:r>
              <a:r>
                <a:rPr lang="en-US" altLang="ko-KR" sz="600" b="1" dirty="0"/>
                <a:t>1</a:t>
              </a:r>
              <a:endParaRPr lang="ko-KR" altLang="en-US" sz="6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C9272C-3C4C-51B3-5FE9-1875639DA4CF}"/>
                </a:ext>
              </a:extLst>
            </p:cNvPr>
            <p:cNvSpPr txBox="1"/>
            <p:nvPr/>
          </p:nvSpPr>
          <p:spPr>
            <a:xfrm>
              <a:off x="2759126" y="1237511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08C49A-A6D7-053E-C96D-C6E542A20B22}"/>
                </a:ext>
              </a:extLst>
            </p:cNvPr>
            <p:cNvSpPr txBox="1"/>
            <p:nvPr/>
          </p:nvSpPr>
          <p:spPr>
            <a:xfrm>
              <a:off x="3989700" y="1239900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 dirty="0"/>
                <a:t>부품</a:t>
              </a:r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C65D33-DBE9-08AD-BD63-39A74BE47197}"/>
                </a:ext>
              </a:extLst>
            </p:cNvPr>
            <p:cNvSpPr txBox="1"/>
            <p:nvPr/>
          </p:nvSpPr>
          <p:spPr>
            <a:xfrm>
              <a:off x="5229373" y="1223864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E4C084-B167-0881-ADDD-63AEE4B82BAA}"/>
                </a:ext>
              </a:extLst>
            </p:cNvPr>
            <p:cNvSpPr txBox="1"/>
            <p:nvPr/>
          </p:nvSpPr>
          <p:spPr>
            <a:xfrm>
              <a:off x="6546382" y="1221586"/>
              <a:ext cx="905296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6DA7FE-EB3D-30A0-E125-70B8311C5C45}"/>
                </a:ext>
              </a:extLst>
            </p:cNvPr>
            <p:cNvSpPr txBox="1"/>
            <p:nvPr/>
          </p:nvSpPr>
          <p:spPr>
            <a:xfrm>
              <a:off x="1492155" y="2387084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250E40-29E4-6879-F4C0-9D1019BCE1CF}"/>
                </a:ext>
              </a:extLst>
            </p:cNvPr>
            <p:cNvSpPr txBox="1"/>
            <p:nvPr/>
          </p:nvSpPr>
          <p:spPr>
            <a:xfrm>
              <a:off x="2759126" y="2354818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EFF3C1-8B17-DFD0-7FA4-D65179C83DBF}"/>
                </a:ext>
              </a:extLst>
            </p:cNvPr>
            <p:cNvSpPr txBox="1"/>
            <p:nvPr/>
          </p:nvSpPr>
          <p:spPr>
            <a:xfrm>
              <a:off x="3989700" y="2354818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FF641A-7303-11F0-9E21-EA10B57BE5E7}"/>
                </a:ext>
              </a:extLst>
            </p:cNvPr>
            <p:cNvSpPr txBox="1"/>
            <p:nvPr/>
          </p:nvSpPr>
          <p:spPr>
            <a:xfrm>
              <a:off x="5183879" y="2351269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B3167B-1EBC-CCB0-6AE5-0BDF7AE05448}"/>
                </a:ext>
              </a:extLst>
            </p:cNvPr>
            <p:cNvSpPr txBox="1"/>
            <p:nvPr/>
          </p:nvSpPr>
          <p:spPr>
            <a:xfrm>
              <a:off x="6587324" y="2354818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 dirty="0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6C57A7-FC0E-967D-D5B4-2AF00F1DF530}"/>
                </a:ext>
              </a:extLst>
            </p:cNvPr>
            <p:cNvSpPr txBox="1"/>
            <p:nvPr/>
          </p:nvSpPr>
          <p:spPr>
            <a:xfrm>
              <a:off x="1492155" y="3453463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 dirty="0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F872BA-25A0-3025-C9FF-0053E88EDC40}"/>
                </a:ext>
              </a:extLst>
            </p:cNvPr>
            <p:cNvSpPr txBox="1"/>
            <p:nvPr/>
          </p:nvSpPr>
          <p:spPr>
            <a:xfrm>
              <a:off x="2800066" y="3421197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DB24B1-8DE4-EB93-B7B3-1C68E215BC7D}"/>
                </a:ext>
              </a:extLst>
            </p:cNvPr>
            <p:cNvSpPr txBox="1"/>
            <p:nvPr/>
          </p:nvSpPr>
          <p:spPr>
            <a:xfrm>
              <a:off x="3989700" y="3405433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D67023-5629-3336-19FA-808806B6C9A8}"/>
                </a:ext>
              </a:extLst>
            </p:cNvPr>
            <p:cNvSpPr txBox="1"/>
            <p:nvPr/>
          </p:nvSpPr>
          <p:spPr>
            <a:xfrm>
              <a:off x="5229373" y="3421197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1FAF6A-F185-6101-5011-490F50862ECE}"/>
                </a:ext>
              </a:extLst>
            </p:cNvPr>
            <p:cNvSpPr txBox="1"/>
            <p:nvPr/>
          </p:nvSpPr>
          <p:spPr>
            <a:xfrm>
              <a:off x="6546382" y="3441743"/>
              <a:ext cx="791570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lvl1pPr algn="ctr">
                <a:defRPr sz="600" b="1"/>
              </a:lvl1pPr>
            </a:lstStyle>
            <a:p>
              <a:r>
                <a:rPr lang="ko-KR" altLang="en-US" dirty="0"/>
                <a:t>부품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6522DA0-ED72-9E15-82C6-21DC72108606}"/>
              </a:ext>
            </a:extLst>
          </p:cNvPr>
          <p:cNvSpPr txBox="1"/>
          <p:nvPr/>
        </p:nvSpPr>
        <p:spPr>
          <a:xfrm>
            <a:off x="464025" y="830662"/>
            <a:ext cx="807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+mn-ea"/>
              </a:rPr>
              <a:t>□ 학습 및 테스트 결과 </a:t>
            </a:r>
            <a:endParaRPr lang="ko-KR" altLang="en-US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6BAFD-74CD-4B13-3A90-7D1F14C95D5A}"/>
              </a:ext>
            </a:extLst>
          </p:cNvPr>
          <p:cNvSpPr txBox="1"/>
          <p:nvPr/>
        </p:nvSpPr>
        <p:spPr>
          <a:xfrm>
            <a:off x="7402067" y="1542130"/>
            <a:ext cx="150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Bauhaus 93" panose="04030905020B02020C02" pitchFamily="82" charset="0"/>
              </a:rPr>
              <a:t>▪ </a:t>
            </a:r>
            <a:r>
              <a:rPr lang="ko-KR" altLang="en-US" sz="1200" dirty="0"/>
              <a:t>파란색선 </a:t>
            </a:r>
            <a:r>
              <a:rPr lang="en-US" altLang="ko-KR" sz="1200" dirty="0"/>
              <a:t>: </a:t>
            </a:r>
            <a:r>
              <a:rPr lang="ko-KR" altLang="en-US" sz="1200" dirty="0"/>
              <a:t>실제값</a:t>
            </a:r>
            <a:endParaRPr lang="en-US" altLang="ko-KR" sz="1200" dirty="0">
              <a:latin typeface="Bauhaus 93" panose="04030905020B02020C02" pitchFamily="82" charset="0"/>
            </a:endParaRPr>
          </a:p>
          <a:p>
            <a:r>
              <a:rPr lang="ko-KR" altLang="en-US" sz="1200" dirty="0">
                <a:latin typeface="Bauhaus 93" panose="04030905020B02020C02" pitchFamily="82" charset="0"/>
              </a:rPr>
              <a:t>▪ </a:t>
            </a:r>
            <a:r>
              <a:rPr lang="ko-KR" altLang="en-US" sz="1200" dirty="0"/>
              <a:t>빨간색선 </a:t>
            </a:r>
            <a:r>
              <a:rPr lang="en-US" altLang="ko-KR" sz="1200" dirty="0"/>
              <a:t>: </a:t>
            </a:r>
            <a:r>
              <a:rPr lang="ko-KR" altLang="en-US" sz="1200" dirty="0"/>
              <a:t>예측값</a:t>
            </a:r>
            <a:endParaRPr lang="en-US" altLang="ko-KR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3231B-CAA9-648C-D6EF-B97C3D643C5E}"/>
              </a:ext>
            </a:extLst>
          </p:cNvPr>
          <p:cNvSpPr txBox="1"/>
          <p:nvPr/>
        </p:nvSpPr>
        <p:spPr>
          <a:xfrm>
            <a:off x="827964" y="1246496"/>
            <a:ext cx="3025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부품자재 미래수요 예측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616849-0E2F-674E-86D4-11B3835C804A}"/>
              </a:ext>
            </a:extLst>
          </p:cNvPr>
          <p:cNvSpPr txBox="1"/>
          <p:nvPr/>
        </p:nvSpPr>
        <p:spPr>
          <a:xfrm>
            <a:off x="7447560" y="2006002"/>
            <a:ext cx="1141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  <a:r>
              <a:rPr lang="ko-KR" altLang="en-US" sz="800" b="1" dirty="0">
                <a:solidFill>
                  <a:schemeClr val="accent1"/>
                </a:solidFill>
                <a:latin typeface="Bauhaus 93" panose="04030905020B02020C02" pitchFamily="82" charset="0"/>
              </a:rPr>
              <a:t> 솔루션 납품 고객사     </a:t>
            </a:r>
            <a:endParaRPr lang="en-US" altLang="ko-KR" sz="800" b="1" dirty="0">
              <a:solidFill>
                <a:schemeClr val="accent1"/>
              </a:solidFill>
              <a:latin typeface="Bauhaus 93" panose="04030905020B02020C02" pitchFamily="82" charset="0"/>
            </a:endParaRPr>
          </a:p>
          <a:p>
            <a:r>
              <a:rPr lang="en-US" altLang="ko-KR" sz="800" b="1" dirty="0">
                <a:solidFill>
                  <a:schemeClr val="accent1"/>
                </a:solidFill>
                <a:latin typeface="Bauhaus 93" panose="04030905020B02020C02" pitchFamily="82" charset="0"/>
              </a:rPr>
              <a:t>     </a:t>
            </a:r>
            <a:r>
              <a:rPr lang="ko-KR" altLang="en-US" sz="800" b="1" dirty="0">
                <a:solidFill>
                  <a:schemeClr val="accent1"/>
                </a:solidFill>
                <a:latin typeface="Bauhaus 93" panose="04030905020B02020C02" pitchFamily="82" charset="0"/>
              </a:rPr>
              <a:t>데이터로 부품명은    </a:t>
            </a:r>
            <a:endParaRPr lang="en-US" altLang="ko-KR" sz="800" b="1" dirty="0">
              <a:solidFill>
                <a:schemeClr val="accent1"/>
              </a:solidFill>
              <a:latin typeface="Bauhaus 93" panose="04030905020B02020C02" pitchFamily="82" charset="0"/>
            </a:endParaRPr>
          </a:p>
          <a:p>
            <a:r>
              <a:rPr lang="en-US" altLang="ko-KR" sz="800" b="1" dirty="0">
                <a:solidFill>
                  <a:schemeClr val="accent1"/>
                </a:solidFill>
                <a:latin typeface="Bauhaus 93" panose="04030905020B02020C02" pitchFamily="82" charset="0"/>
              </a:rPr>
              <a:t>     </a:t>
            </a:r>
            <a:r>
              <a:rPr lang="ko-KR" altLang="en-US" sz="800" b="1" dirty="0">
                <a:solidFill>
                  <a:schemeClr val="accent1"/>
                </a:solidFill>
                <a:latin typeface="Bauhaus 93" panose="04030905020B02020C02" pitchFamily="82" charset="0"/>
              </a:rPr>
              <a:t>블라인드 처리됨</a:t>
            </a:r>
            <a:endParaRPr lang="en-US" altLang="ko-KR" sz="1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47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4FC7D-830D-92B2-7743-50EA145B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솔루션 테스트 결과서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22DA0-ED72-9E15-82C6-21DC72108606}"/>
              </a:ext>
            </a:extLst>
          </p:cNvPr>
          <p:cNvSpPr txBox="1"/>
          <p:nvPr/>
        </p:nvSpPr>
        <p:spPr>
          <a:xfrm>
            <a:off x="464025" y="830662"/>
            <a:ext cx="807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n-ea"/>
              </a:rPr>
              <a:t>□ </a:t>
            </a:r>
            <a:r>
              <a:rPr lang="ko-KR" altLang="en-US" b="1" dirty="0" smtClean="0">
                <a:latin typeface="+mn-ea"/>
              </a:rPr>
              <a:t>테스트 </a:t>
            </a:r>
            <a:r>
              <a:rPr lang="ko-KR" altLang="en-US" b="1" dirty="0" err="1" smtClean="0">
                <a:latin typeface="+mn-ea"/>
              </a:rPr>
              <a:t>결과서</a:t>
            </a:r>
            <a:endParaRPr lang="ko-KR" altLang="en-US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3231B-CAA9-648C-D6EF-B97C3D643C5E}"/>
              </a:ext>
            </a:extLst>
          </p:cNvPr>
          <p:cNvSpPr txBox="1"/>
          <p:nvPr/>
        </p:nvSpPr>
        <p:spPr>
          <a:xfrm>
            <a:off x="853990" y="1199994"/>
            <a:ext cx="61742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부품자재</a:t>
            </a:r>
            <a:r>
              <a:rPr lang="ko-KR" altLang="en-US" sz="1600" dirty="0"/>
              <a:t> 수요 예측 정확도</a:t>
            </a:r>
            <a:br>
              <a:rPr lang="ko-KR" altLang="en-US" sz="1600" dirty="0"/>
            </a:b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2</a:t>
            </a:r>
            <a:r>
              <a:rPr lang="en-US" altLang="ko-KR" sz="1600" dirty="0"/>
              <a:t>. </a:t>
            </a:r>
            <a:r>
              <a:rPr lang="ko-KR" altLang="en-US" sz="1600" dirty="0"/>
              <a:t>부품 자재 초기 </a:t>
            </a:r>
            <a:r>
              <a:rPr lang="en-US" altLang="ko-KR" sz="1600" dirty="0"/>
              <a:t>3</a:t>
            </a:r>
            <a:r>
              <a:rPr lang="ko-KR" altLang="en-US" sz="1600" dirty="0"/>
              <a:t>개월 </a:t>
            </a:r>
            <a:r>
              <a:rPr lang="ko-KR" altLang="en-US" sz="1600" dirty="0" err="1" smtClean="0"/>
              <a:t>사용율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예측 정확도</a:t>
            </a:r>
            <a:br>
              <a:rPr lang="ko-KR" altLang="en-US" sz="1600" dirty="0"/>
            </a:br>
            <a:r>
              <a:rPr lang="en-US" altLang="ko-KR" sz="1600" dirty="0"/>
              <a:t>NPI(</a:t>
            </a:r>
            <a:r>
              <a:rPr lang="ko-KR" altLang="en-US" sz="1600" dirty="0" smtClean="0"/>
              <a:t>초기 </a:t>
            </a:r>
            <a:r>
              <a:rPr lang="en-US" altLang="ko-KR" sz="1600" dirty="0" smtClean="0"/>
              <a:t>3</a:t>
            </a:r>
            <a:r>
              <a:rPr lang="ko-KR" altLang="en-US" sz="1600" dirty="0"/>
              <a:t>개월 </a:t>
            </a:r>
            <a:r>
              <a:rPr lang="ko-KR" altLang="en-US" sz="1600" dirty="0" err="1" smtClean="0"/>
              <a:t>사용율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예측 정확도</a:t>
            </a:r>
            <a:r>
              <a:rPr lang="en-US" altLang="ko-KR" sz="1600" dirty="0"/>
              <a:t>) </a:t>
            </a:r>
            <a:r>
              <a:rPr lang="en-US" altLang="ko-KR" sz="1600" dirty="0" smtClean="0"/>
              <a:t>70%</a:t>
            </a:r>
            <a:endParaRPr lang="ko-KR" altLang="en-US" sz="16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35047"/>
              </p:ext>
            </p:extLst>
          </p:nvPr>
        </p:nvGraphicFramePr>
        <p:xfrm>
          <a:off x="607035" y="1570253"/>
          <a:ext cx="7423024" cy="271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57">
                  <a:extLst>
                    <a:ext uri="{9D8B030D-6E8A-4147-A177-3AD203B41FA5}">
                      <a16:colId xmlns:a16="http://schemas.microsoft.com/office/drawing/2014/main" val="3577537172"/>
                    </a:ext>
                  </a:extLst>
                </a:gridCol>
                <a:gridCol w="4684747">
                  <a:extLst>
                    <a:ext uri="{9D8B030D-6E8A-4147-A177-3AD203B41FA5}">
                      <a16:colId xmlns:a16="http://schemas.microsoft.com/office/drawing/2014/main" val="343352434"/>
                    </a:ext>
                  </a:extLst>
                </a:gridCol>
                <a:gridCol w="1737420">
                  <a:extLst>
                    <a:ext uri="{9D8B030D-6E8A-4147-A177-3AD203B41FA5}">
                      <a16:colId xmlns:a16="http://schemas.microsoft.com/office/drawing/2014/main" val="1177486098"/>
                    </a:ext>
                  </a:extLst>
                </a:gridCol>
              </a:tblGrid>
              <a:tr h="2746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모델명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모델 설명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예측 정확도</a:t>
                      </a:r>
                      <a:r>
                        <a:rPr lang="en-US" altLang="ko-KR" sz="1200" b="1" dirty="0" smtClean="0"/>
                        <a:t>(%)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37400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M06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과거 </a:t>
                      </a:r>
                      <a:r>
                        <a:rPr lang="en-US" altLang="ko-KR" sz="1200" dirty="0" smtClean="0"/>
                        <a:t>6</a:t>
                      </a:r>
                      <a:r>
                        <a:rPr lang="ko-KR" altLang="en-US" sz="1200" dirty="0" smtClean="0"/>
                        <a:t>개월의 데이터 사용해서 </a:t>
                      </a: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개월 후부터 </a:t>
                      </a:r>
                      <a:r>
                        <a:rPr lang="en-US" altLang="ko-KR" sz="1200" dirty="0" smtClean="0"/>
                        <a:t>84</a:t>
                      </a:r>
                      <a:r>
                        <a:rPr lang="ko-KR" altLang="en-US" sz="1200" dirty="0" smtClean="0"/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73.6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4573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M12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과거 </a:t>
                      </a:r>
                      <a:r>
                        <a:rPr lang="en-US" altLang="ko-KR" sz="1200" dirty="0" smtClean="0"/>
                        <a:t>12</a:t>
                      </a:r>
                      <a:r>
                        <a:rPr lang="ko-KR" altLang="en-US" sz="1200" dirty="0" smtClean="0"/>
                        <a:t>개월의 데이터 사용해서 </a:t>
                      </a:r>
                      <a:r>
                        <a:rPr lang="en-US" altLang="ko-KR" sz="1200" dirty="0" smtClean="0"/>
                        <a:t>13</a:t>
                      </a:r>
                      <a:r>
                        <a:rPr lang="ko-KR" altLang="en-US" sz="1200" dirty="0" smtClean="0"/>
                        <a:t>개월 후부터 </a:t>
                      </a:r>
                      <a:r>
                        <a:rPr lang="en-US" altLang="ko-KR" sz="1200" dirty="0" smtClean="0"/>
                        <a:t>84</a:t>
                      </a:r>
                      <a:r>
                        <a:rPr lang="ko-KR" altLang="en-US" sz="1200" dirty="0" smtClean="0"/>
                        <a:t>개월까지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75.1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428877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M24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24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25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84.7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794773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M36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36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37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398934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M48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48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49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83.6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84087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M60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60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61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84.2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11401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M72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72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73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84.3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493644"/>
                  </a:ext>
                </a:extLst>
              </a:tr>
              <a:tr h="296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M78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과거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78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개월의 데이터 사용해서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79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 후부터 </a:t>
                      </a: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84</a:t>
                      </a:r>
                      <a:r>
                        <a:rPr kumimoji="0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한컴 고딕"/>
                          <a:cs typeface="+mn-cs"/>
                        </a:rPr>
                        <a:t>개월까지 예측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81.7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357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5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한컴 고딕"/>
        <a:cs typeface=""/>
      </a:majorFont>
      <a:minorFont>
        <a:latin typeface="Calibri"/>
        <a:ea typeface="한컴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9196</TotalTime>
  <Words>714</Words>
  <Application>Microsoft Office PowerPoint</Application>
  <PresentationFormat>화면 슬라이드 쇼(16:9)</PresentationFormat>
  <Paragraphs>170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Inter</vt:lpstr>
      <vt:lpstr>맑은 고딕</vt:lpstr>
      <vt:lpstr>한컴 고딕</vt:lpstr>
      <vt:lpstr>Arial</vt:lpstr>
      <vt:lpstr>Bauhaus 93</vt:lpstr>
      <vt:lpstr>Calibri</vt:lpstr>
      <vt:lpstr>Office Theme</vt:lpstr>
      <vt:lpstr>디자인 사용자 지정</vt:lpstr>
      <vt:lpstr>PowerPoint 프레젠테이션</vt:lpstr>
      <vt:lpstr>인공지능 미래 수요 예측 솔루션</vt:lpstr>
      <vt:lpstr>인공지능 미래 수요 예측 솔루션 기대효과</vt:lpstr>
      <vt:lpstr>데이터 보유 및 수집 계획</vt:lpstr>
      <vt:lpstr>AI 솔루션 프레임워크</vt:lpstr>
      <vt:lpstr>AI 아키텍처 Ⅰ</vt:lpstr>
      <vt:lpstr>AI 아키텍처 Ⅱ</vt:lpstr>
      <vt:lpstr>AI 솔루션 테스트 결과서</vt:lpstr>
      <vt:lpstr>AI 솔루션 테스트 결과서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jskim</cp:lastModifiedBy>
  <cp:revision>371</cp:revision>
  <cp:lastPrinted>2026-02-24T01:26:36Z</cp:lastPrinted>
  <dcterms:created xsi:type="dcterms:W3CDTF">2026-02-13T14:45:07Z</dcterms:created>
  <dcterms:modified xsi:type="dcterms:W3CDTF">2026-03-03T06:26:10Z</dcterms:modified>
</cp:coreProperties>
</file>